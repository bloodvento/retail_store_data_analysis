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6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78" r:id="rId13"/>
    <p:sldId id="267" r:id="rId14"/>
    <p:sldId id="268" r:id="rId15"/>
    <p:sldId id="269" r:id="rId16"/>
    <p:sldId id="270" r:id="rId17"/>
    <p:sldId id="277" r:id="rId18"/>
    <p:sldId id="271" r:id="rId19"/>
    <p:sldId id="276" r:id="rId20"/>
  </p:sldIdLst>
  <p:sldSz cx="12192000" cy="6858000"/>
  <p:notesSz cx="6858000" cy="9144000"/>
  <p:embeddedFontLst>
    <p:embeddedFont>
      <p:font typeface="Helvetica Neue Light" panose="020B0604020202020204" charset="0"/>
      <p:regular r:id="rId22"/>
      <p:bold r:id="rId23"/>
      <p:italic r:id="rId24"/>
      <p:boldItalic r:id="rId25"/>
    </p:embeddedFont>
    <p:embeddedFont>
      <p:font typeface="Montserrat" panose="00000500000000000000" pitchFamily="2" charset="-52"/>
      <p:regular r:id="rId26"/>
      <p:bold r:id="rId27"/>
      <p:italic r:id="rId28"/>
      <p:boldItalic r:id="rId29"/>
    </p:embeddedFont>
    <p:embeddedFont>
      <p:font typeface="Raleway" pitchFamily="2" charset="-52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1letU8T4Te8yCWT15Snc/xhzH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384" autoAdjust="0"/>
  </p:normalViewPr>
  <p:slideViewPr>
    <p:cSldViewPr snapToGrid="0">
      <p:cViewPr varScale="1">
        <p:scale>
          <a:sx n="73" d="100"/>
          <a:sy n="73" d="100"/>
        </p:scale>
        <p:origin x="14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1%20-%20&#1072;&#1085;&#1072;&#1083;&#1080;&#1079;%20&#1090;&#1086;&#1088;&#1075;&#1086;&#1074;&#1099;&#1093;%20&#1090;&#1086;&#1095;&#1077;&#1082;\&#1058;&#1047;-1-Transaction_list_&#1058;&#1086;&#1087;&#1090;&#1099;&#1075;&#1080;&#1085;_&#1040;&#1085;&#1090;&#1086;&#1085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ny\Documents\Data%20Analyst\&#1059;&#1088;&#1086;&#1082;&#1080;\Excel\&#1058;&#1047;%202%20-%20&#1074;&#1083;&#1080;&#1103;&#1085;&#1080;&#1077;%20&#1090;&#1077;&#1093;.%20&#1089;&#1073;&#1086;&#1077;&#1074;%20&#1080;%20&#1072;&#1082;&#1094;&#1080;&#1081;\&#1058;&#1047;-2-Transaction_list2_&#1058;&#1086;&#1087;&#1090;&#1099;&#1075;&#1080;&#1085;_&#1040;&#1085;&#1090;&#1086;&#1085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1!Сводная таблица1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продаж во всех точках по дням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1'!$B$2:$B$3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1'!$B$4:$B$8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F9-4052-BC4D-E18538085521}"/>
            </c:ext>
          </c:extLst>
        </c:ser>
        <c:ser>
          <c:idx val="1"/>
          <c:order val="1"/>
          <c:tx>
            <c:strRef>
              <c:f>'Задача 1'!$C$2:$C$3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1'!$C$4:$C$8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F9-4052-BC4D-E18538085521}"/>
            </c:ext>
          </c:extLst>
        </c:ser>
        <c:ser>
          <c:idx val="2"/>
          <c:order val="2"/>
          <c:tx>
            <c:strRef>
              <c:f>'Задача 1'!$D$2:$D$3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1'!$D$4:$D$8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F9-4052-BC4D-E18538085521}"/>
            </c:ext>
          </c:extLst>
        </c:ser>
        <c:ser>
          <c:idx val="3"/>
          <c:order val="3"/>
          <c:tx>
            <c:strRef>
              <c:f>'Задача 1'!$E$2:$E$3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1'!$E$4:$E$8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F9-4052-BC4D-E18538085521}"/>
            </c:ext>
          </c:extLst>
        </c:ser>
        <c:ser>
          <c:idx val="4"/>
          <c:order val="4"/>
          <c:tx>
            <c:strRef>
              <c:f>'Задача 1'!$F$2:$F$3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1'!$F$4:$F$8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F9-4052-BC4D-E18538085521}"/>
            </c:ext>
          </c:extLst>
        </c:ser>
        <c:ser>
          <c:idx val="5"/>
          <c:order val="5"/>
          <c:tx>
            <c:strRef>
              <c:f>'Задача 1'!$G$2:$G$3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1'!$G$4:$G$8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F9-4052-BC4D-E18538085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66991440"/>
        <c:axId val="66994320"/>
      </c:barChart>
      <c:catAx>
        <c:axId val="6699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994320"/>
        <c:crosses val="autoZero"/>
        <c:auto val="1"/>
        <c:lblAlgn val="ctr"/>
        <c:lblOffset val="100"/>
        <c:noMultiLvlLbl val="0"/>
      </c:catAx>
      <c:valAx>
        <c:axId val="66994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99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solidFill>
            <a:schemeClr val="bg1"/>
          </a:solidFill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1!Сводная таблица1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Суммарное количество продаж с распределением по точкам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'Задача 1'!$B$2:$B$3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1'!$B$4:$B$8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3-4D1B-9750-F13D2701353B}"/>
            </c:ext>
          </c:extLst>
        </c:ser>
        <c:ser>
          <c:idx val="1"/>
          <c:order val="1"/>
          <c:tx>
            <c:strRef>
              <c:f>'Задача 1'!$C$2:$C$3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1'!$C$4:$C$8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D3-4D1B-9750-F13D2701353B}"/>
            </c:ext>
          </c:extLst>
        </c:ser>
        <c:ser>
          <c:idx val="2"/>
          <c:order val="2"/>
          <c:tx>
            <c:strRef>
              <c:f>'Задача 1'!$D$2:$D$3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1'!$D$4:$D$8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D3-4D1B-9750-F13D2701353B}"/>
            </c:ext>
          </c:extLst>
        </c:ser>
        <c:ser>
          <c:idx val="3"/>
          <c:order val="3"/>
          <c:tx>
            <c:strRef>
              <c:f>'Задача 1'!$E$2:$E$3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1'!$E$4:$E$8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D3-4D1B-9750-F13D2701353B}"/>
            </c:ext>
          </c:extLst>
        </c:ser>
        <c:ser>
          <c:idx val="4"/>
          <c:order val="4"/>
          <c:tx>
            <c:strRef>
              <c:f>'Задача 1'!$F$2:$F$3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1'!$F$4:$F$8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D3-4D1B-9750-F13D2701353B}"/>
            </c:ext>
          </c:extLst>
        </c:ser>
        <c:ser>
          <c:idx val="5"/>
          <c:order val="5"/>
          <c:tx>
            <c:strRef>
              <c:f>'Задача 1'!$G$2:$G$3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1'!$G$4:$G$8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5D3-4D1B-9750-F13D27013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29976128"/>
        <c:axId val="429977088"/>
      </c:barChart>
      <c:catAx>
        <c:axId val="42997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9977088"/>
        <c:crosses val="autoZero"/>
        <c:auto val="1"/>
        <c:lblAlgn val="ctr"/>
        <c:lblOffset val="100"/>
        <c:noMultiLvlLbl val="0"/>
      </c:catAx>
      <c:valAx>
        <c:axId val="42997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997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>
          <a:solidFill>
            <a:schemeClr val="bg1"/>
          </a:solidFill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2!Сводная таблица3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Факт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2'!$B$3:$B$4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7C-4058-990F-D96EA7966F79}"/>
            </c:ext>
          </c:extLst>
        </c:ser>
        <c:ser>
          <c:idx val="1"/>
          <c:order val="1"/>
          <c:tx>
            <c:strRef>
              <c:f>'Задача 2'!$C$3:$C$4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7C-4058-990F-D96EA7966F79}"/>
            </c:ext>
          </c:extLst>
        </c:ser>
        <c:ser>
          <c:idx val="2"/>
          <c:order val="2"/>
          <c:tx>
            <c:strRef>
              <c:f>'Задача 2'!$D$3:$D$4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F7C-4058-990F-D96EA7966F7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41121664"/>
        <c:axId val="441122144"/>
      </c:lineChart>
      <c:catAx>
        <c:axId val="441121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1122144"/>
        <c:crosses val="autoZero"/>
        <c:auto val="1"/>
        <c:lblAlgn val="ctr"/>
        <c:lblOffset val="100"/>
        <c:noMultiLvlLbl val="0"/>
      </c:catAx>
      <c:valAx>
        <c:axId val="44112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1121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2!Сводная таблица4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Как можно сделать</a:t>
            </a:r>
          </a:p>
        </c:rich>
      </c:tx>
      <c:layout>
        <c:manualLayout>
          <c:xMode val="edge"/>
          <c:yMode val="edge"/>
          <c:x val="0.37374901571221752"/>
          <c:y val="1.18232228951218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2'!$B$28:$B$29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2'!$A$30:$A$34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2'!$B$30:$B$34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90-47B0-B9DF-B6A089B9CBF4}"/>
            </c:ext>
          </c:extLst>
        </c:ser>
        <c:ser>
          <c:idx val="1"/>
          <c:order val="1"/>
          <c:tx>
            <c:strRef>
              <c:f>'Задача 2'!$C$28:$C$29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2'!$A$30:$A$34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2'!$C$30:$C$34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90-47B0-B9DF-B6A089B9CBF4}"/>
            </c:ext>
          </c:extLst>
        </c:ser>
        <c:ser>
          <c:idx val="2"/>
          <c:order val="2"/>
          <c:tx>
            <c:strRef>
              <c:f>'Задача 2'!$D$28:$D$29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2'!$A$30:$A$34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2'!$D$30:$D$34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90-47B0-B9DF-B6A089B9CBF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20591120"/>
        <c:axId val="420591600"/>
      </c:lineChart>
      <c:catAx>
        <c:axId val="420591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91600"/>
        <c:crosses val="autoZero"/>
        <c:auto val="1"/>
        <c:lblAlgn val="ctr"/>
        <c:lblOffset val="100"/>
        <c:noMultiLvlLbl val="0"/>
      </c:catAx>
      <c:valAx>
        <c:axId val="42059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91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3!Сводная таблица6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Пропорция касс самообслуживания и обычных касс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'Задача 3'!$B$3:$B$4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'Задача 3'!$A$5:$A$11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'Задача 3'!$B$5:$B$11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0-46F9-8C00-F5BED948DAC8}"/>
            </c:ext>
          </c:extLst>
        </c:ser>
        <c:ser>
          <c:idx val="1"/>
          <c:order val="1"/>
          <c:tx>
            <c:strRef>
              <c:f>'Задача 3'!$C$3:$C$4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'Задача 3'!$A$5:$A$11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'Задача 3'!$C$5:$C$11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40-46F9-8C00-F5BED948D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60949664"/>
        <c:axId val="360950144"/>
      </c:barChart>
      <c:catAx>
        <c:axId val="360949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950144"/>
        <c:crosses val="autoZero"/>
        <c:auto val="1"/>
        <c:lblAlgn val="ctr"/>
        <c:lblOffset val="100"/>
        <c:noMultiLvlLbl val="0"/>
      </c:catAx>
      <c:valAx>
        <c:axId val="360950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949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3!Сводная таблица7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Динамика доли транзакций по кассам самообслуживания</a:t>
            </a:r>
          </a:p>
        </c:rich>
      </c:tx>
      <c:layout>
        <c:manualLayout>
          <c:xMode val="edge"/>
          <c:yMode val="edge"/>
          <c:x val="0.21066007416358101"/>
          <c:y val="3.71446951466488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3'!$B$25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3'!$A$26:$A$30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3'!$B$26:$B$30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B8-4B41-9962-5D1A249B6E5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20582480"/>
        <c:axId val="420594000"/>
      </c:lineChart>
      <c:catAx>
        <c:axId val="420582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94000"/>
        <c:crosses val="autoZero"/>
        <c:auto val="1"/>
        <c:lblAlgn val="ctr"/>
        <c:lblOffset val="100"/>
        <c:noMultiLvlLbl val="0"/>
      </c:catAx>
      <c:valAx>
        <c:axId val="42059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Процент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82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[ТЗ-1-Transaction_list_Топтыгин_Антон.xlsx]Задача 3!Сводная таблица9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3'!$B$47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3'!$A$48:$A$52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'Задача 3'!$B$48:$B$52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3C-4543-BED7-1175405EF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596880"/>
        <c:axId val="420589200"/>
      </c:lineChart>
      <c:catAx>
        <c:axId val="420596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89200"/>
        <c:crosses val="autoZero"/>
        <c:auto val="1"/>
        <c:lblAlgn val="ctr"/>
        <c:lblOffset val="100"/>
        <c:noMultiLvlLbl val="0"/>
      </c:catAx>
      <c:valAx>
        <c:axId val="420589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59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[ТЗ-1-Transaction_list_Топтыгин_Антон.xlsx]ДЗ!Сводная таблица1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6174426354374939E-2"/>
          <c:y val="2.5784698322721063E-2"/>
          <c:w val="0.74047813292062825"/>
          <c:h val="0.87463948488189791"/>
        </c:manualLayout>
      </c:layout>
      <c:lineChart>
        <c:grouping val="standard"/>
        <c:varyColors val="0"/>
        <c:ser>
          <c:idx val="0"/>
          <c:order val="0"/>
          <c:tx>
            <c:strRef>
              <c:f>ДЗ!$B$9:$B$10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ДЗ!$A$11:$A$35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ДЗ!$B$11:$B$35</c:f>
              <c:numCache>
                <c:formatCode>0.0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2A-4140-9580-0E8B0FB38F36}"/>
            </c:ext>
          </c:extLst>
        </c:ser>
        <c:ser>
          <c:idx val="1"/>
          <c:order val="1"/>
          <c:tx>
            <c:strRef>
              <c:f>ДЗ!$C$9:$C$10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ДЗ!$A$11:$A$35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ДЗ!$C$11:$C$35</c:f>
              <c:numCache>
                <c:formatCode>0.0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2A-4140-9580-0E8B0FB38F36}"/>
            </c:ext>
          </c:extLst>
        </c:ser>
        <c:ser>
          <c:idx val="2"/>
          <c:order val="2"/>
          <c:tx>
            <c:strRef>
              <c:f>ДЗ!$D$9:$D$10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ДЗ!$A$11:$A$35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ДЗ!$D$11:$D$35</c:f>
              <c:numCache>
                <c:formatCode>0.0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2A-4140-9580-0E8B0FB38F36}"/>
            </c:ext>
          </c:extLst>
        </c:ser>
        <c:ser>
          <c:idx val="3"/>
          <c:order val="3"/>
          <c:tx>
            <c:strRef>
              <c:f>ДЗ!$E$9:$E$10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ДЗ!$A$11:$A$35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ДЗ!$E$11:$E$35</c:f>
              <c:numCache>
                <c:formatCode>0.0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22A-4140-9580-0E8B0FB38F36}"/>
            </c:ext>
          </c:extLst>
        </c:ser>
        <c:ser>
          <c:idx val="4"/>
          <c:order val="4"/>
          <c:tx>
            <c:strRef>
              <c:f>ДЗ!$F$9:$F$10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ДЗ!$A$11:$A$35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ДЗ!$F$11:$F$35</c:f>
              <c:numCache>
                <c:formatCode>0.0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22A-4140-9580-0E8B0FB38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6183200"/>
        <c:axId val="496166880"/>
      </c:lineChart>
      <c:catAx>
        <c:axId val="4961832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layout>
            <c:manualLayout>
              <c:xMode val="edge"/>
              <c:yMode val="edge"/>
              <c:x val="0.38091219857773961"/>
              <c:y val="0.955801483293841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96166880"/>
        <c:crosses val="autoZero"/>
        <c:auto val="1"/>
        <c:lblAlgn val="ctr"/>
        <c:lblOffset val="100"/>
        <c:noMultiLvlLbl val="0"/>
      </c:catAx>
      <c:valAx>
        <c:axId val="49616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транзакции,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9618320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198291217848674"/>
          <c:y val="0.2919391692851851"/>
          <c:w val="0.15641291585979661"/>
          <c:h val="0.462323796094000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[ТЗ-1-Transaction_list_Топтыгин_Антон.xlsx]ДЗ!Сводная таблица5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ДЗ!$B$116:$B$117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ДЗ!$A$118:$A$142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ДЗ!$B$118:$B$142</c:f>
              <c:numCache>
                <c:formatCode>0.0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B-4D37-8963-E8AB03345C22}"/>
            </c:ext>
          </c:extLst>
        </c:ser>
        <c:ser>
          <c:idx val="1"/>
          <c:order val="1"/>
          <c:tx>
            <c:strRef>
              <c:f>ДЗ!$C$116:$C$117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ДЗ!$A$118:$A$142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ДЗ!$C$118:$C$142</c:f>
              <c:numCache>
                <c:formatCode>0.0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0B-4D37-8963-E8AB03345C22}"/>
            </c:ext>
          </c:extLst>
        </c:ser>
        <c:ser>
          <c:idx val="2"/>
          <c:order val="2"/>
          <c:tx>
            <c:strRef>
              <c:f>ДЗ!$D$116:$D$117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ДЗ!$A$118:$A$142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ДЗ!$D$118:$D$142</c:f>
              <c:numCache>
                <c:formatCode>0.0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0B-4D37-8963-E8AB03345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2338784"/>
        <c:axId val="362349344"/>
      </c:lineChart>
      <c:catAx>
        <c:axId val="362338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2349344"/>
        <c:crossesAt val="0"/>
        <c:auto val="1"/>
        <c:lblAlgn val="ctr"/>
        <c:lblOffset val="100"/>
        <c:noMultiLvlLbl val="0"/>
      </c:catAx>
      <c:valAx>
        <c:axId val="362349344"/>
        <c:scaling>
          <c:orientation val="minMax"/>
          <c:max val="27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</a:t>
                </a:r>
                <a:r>
                  <a:rPr lang="ru-RU" baseline="0"/>
                  <a:t> время транзакции, сек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2338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[ТЗ-1-Transaction_list_Топтыгин_Антон.xlsx]ДЗ!Сводная таблица2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ДЗ!$B$46:$B$47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ДЗ!$A$48:$A$72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ДЗ!$B$48:$B$72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6A-4A0E-9AEB-C7EBE489393C}"/>
            </c:ext>
          </c:extLst>
        </c:ser>
        <c:ser>
          <c:idx val="1"/>
          <c:order val="1"/>
          <c:tx>
            <c:strRef>
              <c:f>ДЗ!$C$46:$C$47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ДЗ!$A$48:$A$72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ДЗ!$C$48:$C$72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6A-4A0E-9AEB-C7EBE489393C}"/>
            </c:ext>
          </c:extLst>
        </c:ser>
        <c:ser>
          <c:idx val="2"/>
          <c:order val="2"/>
          <c:tx>
            <c:strRef>
              <c:f>ДЗ!$D$46:$D$47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ДЗ!$A$48:$A$72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ДЗ!$D$48:$D$72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6A-4A0E-9AEB-C7EBE489393C}"/>
            </c:ext>
          </c:extLst>
        </c:ser>
        <c:ser>
          <c:idx val="3"/>
          <c:order val="3"/>
          <c:tx>
            <c:strRef>
              <c:f>ДЗ!$E$46:$E$47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ДЗ!$A$48:$A$72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ДЗ!$E$48:$E$72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06A-4A0E-9AEB-C7EBE489393C}"/>
            </c:ext>
          </c:extLst>
        </c:ser>
        <c:ser>
          <c:idx val="4"/>
          <c:order val="4"/>
          <c:tx>
            <c:strRef>
              <c:f>ДЗ!$F$46:$F$47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ДЗ!$A$48:$A$72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ДЗ!$F$48:$F$72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06A-4A0E-9AEB-C7EBE4893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8539168"/>
        <c:axId val="388540128"/>
      </c:lineChart>
      <c:catAx>
        <c:axId val="388539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8540128"/>
        <c:crosses val="autoZero"/>
        <c:auto val="1"/>
        <c:lblAlgn val="ctr"/>
        <c:lblOffset val="100"/>
        <c:noMultiLvlLbl val="0"/>
      </c:catAx>
      <c:valAx>
        <c:axId val="38854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853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[ТЗ-1-Transaction_list_Топтыгин_Антон.xlsx]ДЗ!Сводная таблица4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289303981842995E-2"/>
              <c:y val="-6.751154351455000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Visa</a:t>
                </a:r>
              </a:p>
            </c:rich>
          </c:tx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0"/>
            </c:ext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7773868305283165E-2"/>
              <c:y val="-0.1443749085160080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D22DF6A4-2B2E-4643-8F91-9A95FC719217}" type="SERIESNAME">
                  <a:rPr lang="en-US"/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166832947578074E-3"/>
              <c:y val="4.98401425816541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973AD17D-1381-4854-972E-64114C240F6C}" type="SERIESNAME">
                  <a:rPr lang="ru-RU" sz="1100" b="1">
                    <a:solidFill>
                      <a:schemeClr val="bg1"/>
                    </a:solidFill>
                  </a:rPr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7773868305283165E-2"/>
              <c:y val="-0.1443749085160080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D22DF6A4-2B2E-4643-8F91-9A95FC719217}" type="SERIESNAME">
                  <a:rPr lang="en-US"/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289303981842995E-2"/>
              <c:y val="-6.751154351455000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Visa</a:t>
                </a:r>
              </a:p>
            </c:rich>
          </c:tx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0"/>
            </c:ext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166832947578074E-3"/>
              <c:y val="4.98401425816541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973AD17D-1381-4854-972E-64114C240F6C}" type="SERIESNAME">
                  <a:rPr lang="ru-RU" sz="1100" b="1">
                    <a:solidFill>
                      <a:schemeClr val="bg1"/>
                    </a:solidFill>
                  </a:rPr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7773868305283165E-2"/>
              <c:y val="-0.1443749085160080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D22DF6A4-2B2E-4643-8F91-9A95FC719217}" type="SERIESNAME">
                  <a:rPr lang="en-US"/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accent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9289303981842995E-2"/>
              <c:y val="-6.751154351455000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Visa</a:t>
                </a:r>
              </a:p>
            </c:rich>
          </c:tx>
          <c:spPr>
            <a:solidFill>
              <a:schemeClr val="accent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0"/>
            </c:ext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166832947578074E-3"/>
              <c:y val="4.98401425816541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973AD17D-1381-4854-972E-64114C240F6C}" type="SERIESNAME">
                  <a:rPr lang="ru-RU" sz="1100" b="1">
                    <a:solidFill>
                      <a:schemeClr val="bg1"/>
                    </a:solidFill>
                  </a:rPr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[ИМЯ РЯДА]</a:t>
                </a:fld>
                <a:endParaRPr lang="ru-RU"/>
              </a:p>
            </c:rich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ДЗ!$B$80:$B$81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9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CC-4B57-9B34-2D405E0BD3EC}"/>
              </c:ext>
            </c:extLst>
          </c:dPt>
          <c:dPt>
            <c:idx val="23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CC-4B57-9B34-2D405E0BD3EC}"/>
              </c:ext>
            </c:extLst>
          </c:dPt>
          <c:dLbls>
            <c:dLbl>
              <c:idx val="19"/>
              <c:layout>
                <c:manualLayout>
                  <c:x val="-8.7773868305283165E-2"/>
                  <c:y val="-0.14437490851600807"/>
                </c:manualLayout>
              </c:layout>
              <c:tx>
                <c:rich>
                  <a:bodyPr/>
                  <a:lstStyle/>
                  <a:p>
                    <a:fld id="{D22DF6A4-2B2E-4643-8F91-9A95FC719217}" type="SERIESNAME">
                      <a:rPr lang="en-US"/>
                      <a:pPr/>
                      <a:t>[ИМЯ РЯДА]</a:t>
                    </a:fld>
                    <a:endParaRPr lang="ru-RU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5CC-4B57-9B34-2D405E0BD3EC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ДЗ!$A$82:$A$106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ДЗ!$B$82:$B$106</c:f>
              <c:numCache>
                <c:formatCode>0.0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5CC-4B57-9B34-2D405E0BD3EC}"/>
            </c:ext>
          </c:extLst>
        </c:ser>
        <c:ser>
          <c:idx val="1"/>
          <c:order val="1"/>
          <c:tx>
            <c:strRef>
              <c:f>ДЗ!$C$80:$C$81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23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E5CC-4B57-9B34-2D405E0BD3EC}"/>
              </c:ext>
            </c:extLst>
          </c:dPt>
          <c:dLbls>
            <c:dLbl>
              <c:idx val="23"/>
              <c:layout>
                <c:manualLayout>
                  <c:x val="-2.9289303981842995E-2"/>
                  <c:y val="-6.7511543514550007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Visa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5CC-4B57-9B34-2D405E0BD3EC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ДЗ!$A$82:$A$106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ДЗ!$C$82:$C$106</c:f>
              <c:numCache>
                <c:formatCode>0.0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5CC-4B57-9B34-2D405E0BD3EC}"/>
            </c:ext>
          </c:extLst>
        </c:ser>
        <c:ser>
          <c:idx val="2"/>
          <c:order val="2"/>
          <c:tx>
            <c:strRef>
              <c:f>ДЗ!$D$80:$D$81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Pt>
            <c:idx val="18"/>
            <c:marker>
              <c:symbol val="none"/>
            </c:marker>
            <c:bubble3D val="0"/>
            <c:spPr>
              <a:ln w="28575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E5CC-4B57-9B34-2D405E0BD3EC}"/>
              </c:ext>
            </c:extLst>
          </c:dPt>
          <c:dLbls>
            <c:dLbl>
              <c:idx val="18"/>
              <c:layout>
                <c:manualLayout>
                  <c:x val="-3.6166832947578074E-3"/>
                  <c:y val="4.9840142581654159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6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73AD17D-1381-4854-972E-64114C240F6C}" type="SERIESNAME">
                      <a:rPr lang="ru-RU"/>
                      <a:pPr>
                        <a:defRPr/>
                      </a:pPr>
                      <a:t>[ИМЯ РЯДА]</a:t>
                    </a:fld>
                    <a:endParaRPr lang="ru-RU"/>
                  </a:p>
                </c:rich>
              </c:tx>
              <c:spPr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E5CC-4B57-9B34-2D405E0BD3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ДЗ!$A$82:$A$106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ДЗ!$D$82:$D$106</c:f>
              <c:numCache>
                <c:formatCode>0.0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E5CC-4B57-9B34-2D405E0BD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3695696"/>
        <c:axId val="613697136"/>
      </c:lineChart>
      <c:catAx>
        <c:axId val="613695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3697136"/>
        <c:crosses val="autoZero"/>
        <c:auto val="1"/>
        <c:lblAlgn val="ctr"/>
        <c:lblOffset val="100"/>
        <c:noMultiLvlLbl val="0"/>
      </c:catAx>
      <c:valAx>
        <c:axId val="613697136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время транзакции,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369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[ТЗ-2-Transaction_list2_Топтыгин_Антон.xlsx]Задача 1!Сводная таблица1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Изменение числа транзакций и среднего времени их исполнения (сервер</a:t>
            </a:r>
            <a:r>
              <a:rPr lang="ru-RU" baseline="0" dirty="0"/>
              <a:t> 1)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5987932876927069E-3"/>
              <c:y val="-3.35042717004228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7862242054873261E-2"/>
              <c:y val="-3.33759084605612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125690822053833E-2"/>
              <c:y val="-2.41457628368951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125690822053833E-2"/>
              <c:y val="-2.41457628368951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5987932876927069E-3"/>
              <c:y val="-3.35042717004228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7862242054873261E-2"/>
              <c:y val="-3.33759084605612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125690822053833E-2"/>
              <c:y val="-2.41457628368951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5987932876927069E-3"/>
              <c:y val="-3.35042717004228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7862242054873261E-2"/>
              <c:y val="-3.337590846056122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181640667733381"/>
          <c:y val="0.1609784518739843"/>
          <c:w val="0.71636718664533239"/>
          <c:h val="0.5817670523880497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'Задача 1'!$C$4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1'!$C$5:$C$8</c:f>
              <c:numCache>
                <c:formatCode>0.00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7-439A-A166-C6A61E4F3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86687"/>
        <c:axId val="11742639"/>
      </c:barChart>
      <c:lineChart>
        <c:grouping val="standard"/>
        <c:varyColors val="0"/>
        <c:ser>
          <c:idx val="0"/>
          <c:order val="0"/>
          <c:tx>
            <c:strRef>
              <c:f>'Задача 1'!$B$4</c:f>
              <c:strCache>
                <c:ptCount val="1"/>
                <c:pt idx="0">
                  <c:v>Средняя продолжительность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8067-439A-A166-C6A61E4F3537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8067-439A-A166-C6A61E4F3537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8067-439A-A166-C6A61E4F3537}"/>
              </c:ext>
            </c:extLst>
          </c:dPt>
          <c:dLbls>
            <c:dLbl>
              <c:idx val="0"/>
              <c:layout>
                <c:manualLayout>
                  <c:x val="-4.8125690822053833E-2"/>
                  <c:y val="-2.41457628368951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67-439A-A166-C6A61E4F3537}"/>
                </c:ext>
              </c:extLst>
            </c:dLbl>
            <c:dLbl>
              <c:idx val="1"/>
              <c:layout>
                <c:manualLayout>
                  <c:x val="7.5987932876927069E-3"/>
                  <c:y val="-3.35042717004228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67-439A-A166-C6A61E4F3537}"/>
                </c:ext>
              </c:extLst>
            </c:dLbl>
            <c:dLbl>
              <c:idx val="2"/>
              <c:layout>
                <c:manualLayout>
                  <c:x val="-2.7862242054873261E-2"/>
                  <c:y val="-3.3375908460561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67-439A-A166-C6A61E4F35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1'!$B$5:$B$8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067-439A-A166-C6A61E4F3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3761727"/>
        <c:axId val="233758367"/>
      </c:lineChart>
      <c:catAx>
        <c:axId val="112866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42639"/>
        <c:crosses val="autoZero"/>
        <c:auto val="1"/>
        <c:lblAlgn val="ctr"/>
        <c:lblOffset val="100"/>
        <c:noMultiLvlLbl val="0"/>
      </c:catAx>
      <c:valAx>
        <c:axId val="11742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86687"/>
        <c:crosses val="autoZero"/>
        <c:crossBetween val="between"/>
      </c:valAx>
      <c:valAx>
        <c:axId val="2337583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время транзакции,</a:t>
                </a:r>
                <a:r>
                  <a:rPr lang="ru-RU" baseline="0"/>
                  <a:t> сек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3761727"/>
        <c:crosses val="max"/>
        <c:crossBetween val="between"/>
      </c:valAx>
      <c:catAx>
        <c:axId val="2337617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37583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[ТЗ-2-Transaction_list2_Топтыгин_Антон.xlsx]Задача 1!Сводная таблица2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Изменение числа транзакций и среднего времени их исполнения (сервер 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01094556995619E-2"/>
              <c:y val="-5.97196601958052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12636819624457E-2"/>
              <c:y val="-3.9618223134823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01094556995619E-2"/>
              <c:y val="-5.97196601958052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12636819624457E-2"/>
              <c:y val="-3.9618223134823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01094556995619E-2"/>
              <c:y val="-5.97196601958052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812636819624457E-2"/>
              <c:y val="-3.961822313482397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477175614655096"/>
          <c:y val="0.21073583488622363"/>
          <c:w val="0.67274314355323628"/>
          <c:h val="0.57527006652984425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'Задача 1'!$C$22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1'!$A$23:$A$26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1'!$C$23:$C$26</c:f>
              <c:numCache>
                <c:formatCode>0.00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58-4639-9BDB-D4C9F8B6A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1265455"/>
        <c:axId val="451271215"/>
      </c:barChart>
      <c:lineChart>
        <c:grouping val="standard"/>
        <c:varyColors val="0"/>
        <c:ser>
          <c:idx val="0"/>
          <c:order val="0"/>
          <c:tx>
            <c:strRef>
              <c:f>'Задача 1'!$B$22</c:f>
              <c:strCache>
                <c:ptCount val="1"/>
                <c:pt idx="0">
                  <c:v>Средняя продолжительность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9558-4639-9BDB-D4C9F8B6AAD3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9558-4639-9BDB-D4C9F8B6AAD3}"/>
              </c:ext>
            </c:extLst>
          </c:dPt>
          <c:dLbls>
            <c:dLbl>
              <c:idx val="0"/>
              <c:layout>
                <c:manualLayout>
                  <c:x val="-3.0501094556995619E-2"/>
                  <c:y val="-5.97196601958052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58-4639-9BDB-D4C9F8B6AAD3}"/>
                </c:ext>
              </c:extLst>
            </c:dLbl>
            <c:dLbl>
              <c:idx val="2"/>
              <c:layout>
                <c:manualLayout>
                  <c:x val="-3.812636819624457E-2"/>
                  <c:y val="-3.96182231348239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558-4639-9BDB-D4C9F8B6AA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1'!$A$23:$A$26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1'!$B$23:$B$26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58-4639-9BDB-D4C9F8B6A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3754527"/>
        <c:axId val="233751167"/>
      </c:lineChart>
      <c:catAx>
        <c:axId val="451265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1271215"/>
        <c:crosses val="autoZero"/>
        <c:auto val="1"/>
        <c:lblAlgn val="ctr"/>
        <c:lblOffset val="100"/>
        <c:noMultiLvlLbl val="0"/>
      </c:catAx>
      <c:valAx>
        <c:axId val="45127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Кол-во</a:t>
                </a:r>
                <a:r>
                  <a:rPr lang="ru-RU" baseline="0" dirty="0"/>
                  <a:t> транзакций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1265455"/>
        <c:crosses val="autoZero"/>
        <c:crossBetween val="between"/>
      </c:valAx>
      <c:valAx>
        <c:axId val="2337511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продолжительность транзакции,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3754527"/>
        <c:crosses val="max"/>
        <c:crossBetween val="between"/>
      </c:valAx>
      <c:catAx>
        <c:axId val="2337545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37511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[ТЗ-2-Transaction_list2_Топтыгин_Антон.xlsx]Задача 1!Сводная таблица3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Изменение числа транзакций и среднего времени их исполнения для клиентов с картой лояльности (сервер 1)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1'!$C$39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1'!$A$40:$A$43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1'!$C$40:$C$43</c:f>
              <c:numCache>
                <c:formatCode>0.00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D4-4472-A4ED-389856B14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8104655"/>
        <c:axId val="438102735"/>
      </c:barChart>
      <c:lineChart>
        <c:grouping val="standard"/>
        <c:varyColors val="0"/>
        <c:ser>
          <c:idx val="0"/>
          <c:order val="0"/>
          <c:tx>
            <c:strRef>
              <c:f>'Задача 1'!$B$39</c:f>
              <c:strCache>
                <c:ptCount val="1"/>
                <c:pt idx="0">
                  <c:v>Средняя продолжительность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1'!$A$40:$A$43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1'!$B$40:$B$43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D4-4472-A4ED-389856B14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3763167"/>
        <c:axId val="233756447"/>
      </c:lineChart>
      <c:catAx>
        <c:axId val="4381046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102735"/>
        <c:crosses val="autoZero"/>
        <c:auto val="1"/>
        <c:lblAlgn val="ctr"/>
        <c:lblOffset val="100"/>
        <c:noMultiLvlLbl val="0"/>
      </c:catAx>
      <c:valAx>
        <c:axId val="43810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Кол-во</a:t>
                </a:r>
                <a:r>
                  <a:rPr lang="ru-RU" baseline="0"/>
                  <a:t> транзакций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104655"/>
        <c:crosses val="autoZero"/>
        <c:crossBetween val="between"/>
      </c:valAx>
      <c:valAx>
        <c:axId val="2337564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Сред.</a:t>
                </a:r>
                <a:r>
                  <a:rPr lang="ru-RU" baseline="0"/>
                  <a:t> </a:t>
                </a:r>
                <a:r>
                  <a:rPr lang="ru-RU"/>
                  <a:t>продолжительность</a:t>
                </a:r>
                <a:r>
                  <a:rPr lang="ru-RU" baseline="0"/>
                  <a:t> транзакции, сек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3763167"/>
        <c:crosses val="max"/>
        <c:crossBetween val="between"/>
      </c:valAx>
      <c:catAx>
        <c:axId val="233763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337564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[ТЗ-2-Transaction_list2_Топтыгин_Антон.xlsx]Задача 2!Сводная таблица4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5894436577578468E-2"/>
              <c:y val="4.5724251405152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6035214530153875E-2"/>
              <c:y val="5.102980519115257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5894436577578468E-2"/>
              <c:y val="4.5724251405152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6035214530153875E-2"/>
              <c:y val="5.102980519115257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5894436577578468E-2"/>
              <c:y val="4.57242514051521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6035214530153875E-2"/>
              <c:y val="5.102980519115257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2'!$B$4:$B$7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3-4239-9F0A-CAE5F8E48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8103215"/>
        <c:axId val="438106095"/>
      </c:barChart>
      <c:lineChart>
        <c:grouping val="standard"/>
        <c:varyColors val="0"/>
        <c:ser>
          <c:idx val="1"/>
          <c:order val="1"/>
          <c:tx>
            <c:strRef>
              <c:f>'Задача 2'!$C$3</c:f>
              <c:strCache>
                <c:ptCount val="1"/>
                <c:pt idx="0">
                  <c:v>Среднее по полю sum_payment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57D3-4239-9F0A-CAE5F8E4816A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57D3-4239-9F0A-CAE5F8E4816A}"/>
              </c:ext>
            </c:extLst>
          </c:dPt>
          <c:dLbls>
            <c:dLbl>
              <c:idx val="0"/>
              <c:layout>
                <c:manualLayout>
                  <c:x val="2.5894436577578468E-2"/>
                  <c:y val="4.5724251405152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7D3-4239-9F0A-CAE5F8E4816A}"/>
                </c:ext>
              </c:extLst>
            </c:dLbl>
            <c:dLbl>
              <c:idx val="1"/>
              <c:layout>
                <c:manualLayout>
                  <c:x val="3.6035214530153875E-2"/>
                  <c:y val="5.102980519115257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D3-4239-9F0A-CAE5F8E481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2'!$C$4:$C$7</c:f>
              <c:numCache>
                <c:formatCode>_-* #\ ##0\ "₽"_-;\-* #\ ##0\ "₽"_-;_-* "-"??\ "₽"_-;_-@_-</c:formatCode>
                <c:ptCount val="3"/>
                <c:pt idx="0">
                  <c:v>18518.769268774704</c:v>
                </c:pt>
                <c:pt idx="1">
                  <c:v>18358.344132328471</c:v>
                </c:pt>
                <c:pt idx="2">
                  <c:v>19769.976126529393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7D3-4239-9F0A-CAE5F8E48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4664847"/>
        <c:axId val="464678767"/>
      </c:lineChart>
      <c:catAx>
        <c:axId val="464664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layout>
            <c:manualLayout>
              <c:xMode val="edge"/>
              <c:yMode val="edge"/>
              <c:x val="0.44420535985628523"/>
              <c:y val="0.833858468988564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4678767"/>
        <c:crosses val="autoZero"/>
        <c:auto val="1"/>
        <c:lblAlgn val="ctr"/>
        <c:lblOffset val="100"/>
        <c:noMultiLvlLbl val="0"/>
      </c:catAx>
      <c:valAx>
        <c:axId val="46467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Средний чек, рублей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_-* #\ ##0\ &quot;₽&quot;_-;\-* #\ ##0\ &quot;₽&quot;_-;_-* &quot;-&quot;??\ &quot;₽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4664847"/>
        <c:crosses val="autoZero"/>
        <c:crossBetween val="between"/>
      </c:valAx>
      <c:valAx>
        <c:axId val="43810609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103215"/>
        <c:crosses val="max"/>
        <c:crossBetween val="between"/>
      </c:valAx>
      <c:catAx>
        <c:axId val="438103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81060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[ТЗ-2-Transaction_list2_Топтыгин_Антон.xlsx]ДЗ!Сводная таблица2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Расходы на скидки по бинам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ДЗ!$B$14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E6-4BE7-BDCD-E4760CCAEB11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E6-4BE7-BDCD-E4760CCAEB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ДЗ!$A$15:$A$20</c:f>
              <c:strCache>
                <c:ptCount val="5"/>
                <c:pt idx="0">
                  <c:v>0%</c:v>
                </c:pt>
                <c:pt idx="1">
                  <c:v>1%</c:v>
                </c:pt>
                <c:pt idx="2">
                  <c:v>2%</c:v>
                </c:pt>
                <c:pt idx="3">
                  <c:v>3%</c:v>
                </c:pt>
                <c:pt idx="4">
                  <c:v>4%</c:v>
                </c:pt>
              </c:strCache>
            </c:strRef>
          </c:cat>
          <c:val>
            <c:numRef>
              <c:f>ДЗ!$B$15:$B$20</c:f>
              <c:numCache>
                <c:formatCode>_-* #\ ##0\ "₽"_-;\-* #\ ##0\ "₽"_-;_-* "-"??\ "₽"_-;_-@_-</c:formatCode>
                <c:ptCount val="5"/>
                <c:pt idx="0">
                  <c:v>0</c:v>
                </c:pt>
                <c:pt idx="1">
                  <c:v>244869.60859999974</c:v>
                </c:pt>
                <c:pt idx="2">
                  <c:v>718949.45110000006</c:v>
                </c:pt>
                <c:pt idx="3">
                  <c:v>1226936.2968000013</c:v>
                </c:pt>
                <c:pt idx="4">
                  <c:v>1703133.4768999999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E6-4BE7-BDCD-E4760CCAE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7732639"/>
        <c:axId val="437736479"/>
      </c:barChart>
      <c:catAx>
        <c:axId val="43773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7736479"/>
        <c:crosses val="autoZero"/>
        <c:auto val="1"/>
        <c:lblAlgn val="ctr"/>
        <c:lblOffset val="100"/>
        <c:noMultiLvlLbl val="0"/>
      </c:catAx>
      <c:valAx>
        <c:axId val="43773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&quot;₽&quot;_-;\-* #\ ##0\ &quot;₽&quot;_-;_-* &quot;-&quot;??\ &quot;₽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7732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[ТЗ-2-Transaction_list2_Топтыгин_Антон.xlsx]ДЗ!Сводная таблица4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ДЗ!$B$36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ДЗ!$A$37:$A$41</c:f>
              <c:strCache>
                <c:ptCount val="4"/>
                <c:pt idx="0">
                  <c:v>0%</c:v>
                </c:pt>
                <c:pt idx="1">
                  <c:v>1%</c:v>
                </c:pt>
                <c:pt idx="2">
                  <c:v>2%</c:v>
                </c:pt>
                <c:pt idx="3">
                  <c:v>3%</c:v>
                </c:pt>
              </c:strCache>
            </c:strRef>
          </c:cat>
          <c:val>
            <c:numRef>
              <c:f>ДЗ!$B$37:$B$41</c:f>
              <c:numCache>
                <c:formatCode>_-* #\ ##0\ "₽"_-;\-* #\ ##0\ "₽"_-;_-* "-"??\ "₽"_-;_-@_-</c:formatCode>
                <c:ptCount val="4"/>
                <c:pt idx="0">
                  <c:v>0</c:v>
                </c:pt>
                <c:pt idx="1">
                  <c:v>244869.60859999974</c:v>
                </c:pt>
                <c:pt idx="2">
                  <c:v>718949.45110000006</c:v>
                </c:pt>
                <c:pt idx="3">
                  <c:v>2442770.083699997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C-4382-8D86-6E04FA863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4306351"/>
        <c:axId val="714293391"/>
      </c:barChart>
      <c:catAx>
        <c:axId val="714306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4293391"/>
        <c:crosses val="autoZero"/>
        <c:auto val="1"/>
        <c:lblAlgn val="ctr"/>
        <c:lblOffset val="100"/>
        <c:noMultiLvlLbl val="0"/>
      </c:catAx>
      <c:valAx>
        <c:axId val="714293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&quot;₽&quot;_-;\-* #\ ##0\ &quot;₽&quot;_-;_-* &quot;-&quot;??\ &quot;₽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1430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0.13013</cdr:x>
      <cdr:y>0.02392</cdr:y>
    </cdr:from>
    <cdr:to>
      <cdr:x>0.2901</cdr:x>
      <cdr:y>0.90281</cdr:y>
    </cdr:to>
    <cdr:sp macro="" textlink="">
      <cdr:nvSpPr>
        <cdr:cNvPr id="2" name="Прямоугольник 1">
          <a:extLst xmlns:a="http://schemas.openxmlformats.org/drawingml/2006/main">
            <a:ext uri="{FF2B5EF4-FFF2-40B4-BE49-F238E27FC236}">
              <a16:creationId xmlns:a16="http://schemas.microsoft.com/office/drawing/2014/main" id="{7DEAE549-1645-EBA2-3B86-091FDF78DDE4}"/>
            </a:ext>
          </a:extLst>
        </cdr:cNvPr>
        <cdr:cNvSpPr/>
      </cdr:nvSpPr>
      <cdr:spPr>
        <a:xfrm xmlns:a="http://schemas.openxmlformats.org/drawingml/2006/main">
          <a:off x="1427945" y="121553"/>
          <a:ext cx="1755227" cy="4466897"/>
        </a:xfrm>
        <a:prstGeom xmlns:a="http://schemas.openxmlformats.org/drawingml/2006/main" prst="rect">
          <a:avLst/>
        </a:prstGeom>
        <a:solidFill xmlns:a="http://schemas.openxmlformats.org/drawingml/2006/main">
          <a:srgbClr val="C00000">
            <a:alpha val="30000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marL="0" indent="0"/>
          <a:endParaRPr lang="ru-RU" sz="1100">
            <a:solidFill>
              <a:schemeClr val="lt1"/>
            </a:solidFill>
            <a:latin typeface="+mn-lt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0.38189</cdr:x>
      <cdr:y>0.0215</cdr:y>
    </cdr:from>
    <cdr:to>
      <cdr:x>0.56692</cdr:x>
      <cdr:y>0.90039</cdr:y>
    </cdr:to>
    <cdr:sp macro="" textlink="">
      <cdr:nvSpPr>
        <cdr:cNvPr id="3" name="Прямоугольник 2">
          <a:extLst xmlns:a="http://schemas.openxmlformats.org/drawingml/2006/main">
            <a:ext uri="{FF2B5EF4-FFF2-40B4-BE49-F238E27FC236}">
              <a16:creationId xmlns:a16="http://schemas.microsoft.com/office/drawing/2014/main" id="{44131BAC-DF4F-836E-1398-0E82C233FB23}"/>
            </a:ext>
          </a:extLst>
        </cdr:cNvPr>
        <cdr:cNvSpPr/>
      </cdr:nvSpPr>
      <cdr:spPr>
        <a:xfrm xmlns:a="http://schemas.openxmlformats.org/drawingml/2006/main">
          <a:off x="4190415" y="109291"/>
          <a:ext cx="2030248" cy="4466897"/>
        </a:xfrm>
        <a:prstGeom xmlns:a="http://schemas.openxmlformats.org/drawingml/2006/main" prst="rect">
          <a:avLst/>
        </a:prstGeom>
        <a:solidFill xmlns:a="http://schemas.openxmlformats.org/drawingml/2006/main">
          <a:srgbClr val="92D050">
            <a:alpha val="30000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/>
          <a:endParaRPr lang="ru-RU" sz="1100">
            <a:solidFill>
              <a:schemeClr val="lt1"/>
            </a:solidFill>
            <a:latin typeface="+mn-lt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0.12918</cdr:x>
      <cdr:y>0.02805</cdr:y>
    </cdr:from>
    <cdr:to>
      <cdr:x>0.29105</cdr:x>
      <cdr:y>0.20383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75D8BC87-4EAF-7396-8B32-FA84EF277FBD}"/>
            </a:ext>
          </a:extLst>
        </cdr:cNvPr>
        <cdr:cNvSpPr txBox="1"/>
      </cdr:nvSpPr>
      <cdr:spPr>
        <a:xfrm xmlns:a="http://schemas.openxmlformats.org/drawingml/2006/main">
          <a:off x="1417434" y="142574"/>
          <a:ext cx="1776249" cy="8933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ru-RU" sz="1200" b="1" dirty="0"/>
            <a:t>Сбои интернет соединения в солнцевском р-не Москвы</a:t>
          </a:r>
        </a:p>
      </cdr:txBody>
    </cdr:sp>
  </cdr:relSizeAnchor>
  <cdr:relSizeAnchor xmlns:cdr="http://schemas.openxmlformats.org/drawingml/2006/chartDrawing">
    <cdr:from>
      <cdr:x>0.38285</cdr:x>
      <cdr:y>0.02771</cdr:y>
    </cdr:from>
    <cdr:to>
      <cdr:x>0.56692</cdr:x>
      <cdr:y>0.20349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C9BC9A25-D23C-6F4C-6370-80EC39352312}"/>
            </a:ext>
          </a:extLst>
        </cdr:cNvPr>
        <cdr:cNvSpPr txBox="1"/>
      </cdr:nvSpPr>
      <cdr:spPr>
        <a:xfrm xmlns:a="http://schemas.openxmlformats.org/drawingml/2006/main">
          <a:off x="4200923" y="140822"/>
          <a:ext cx="2019740" cy="8933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200" b="1" dirty="0"/>
            <a:t>Маркетинговая акция – скидка однодневка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Добрый день, меня зовут Антон, представляю вашему вниманию анализ работы </a:t>
            </a:r>
            <a:r>
              <a:rPr lang="ru-RU" dirty="0" err="1"/>
              <a:t>ноунейм</a:t>
            </a:r>
            <a:r>
              <a:rPr lang="ru-RU" dirty="0"/>
              <a:t> ритейл сети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200" dirty="0"/>
              <a:t>Графики отражают результаты по торговым точкам, характерно перераспределение продаж с момента открытия новой торговой точки по адресу Чертановская</a:t>
            </a:r>
            <a:br>
              <a:rPr lang="ru-RU" sz="1200" dirty="0"/>
            </a:br>
            <a:br>
              <a:rPr lang="ru-RU" sz="1200" dirty="0"/>
            </a:br>
            <a:r>
              <a:rPr lang="ru-RU" sz="1200" dirty="0"/>
              <a:t>Заметно снижение объема</a:t>
            </a:r>
            <a:r>
              <a:rPr lang="ru-RU" sz="1200" baseline="0" dirty="0"/>
              <a:t> на Симферопольском бульваре 22, при этом высокий объем и значительное количество продаж на новой точке (Чертановская) - возможно она может заменить Симферопольский бульвар, с которого перетянула продажи</a:t>
            </a:r>
            <a:br>
              <a:rPr lang="ru-RU" sz="1200" baseline="0" dirty="0"/>
            </a:br>
            <a:br>
              <a:rPr lang="ru-RU" sz="1200" baseline="0" dirty="0"/>
            </a:br>
            <a:r>
              <a:rPr lang="ru-RU" sz="1200" dirty="0"/>
              <a:t>Несмотря на снижение объемов</a:t>
            </a:r>
            <a:r>
              <a:rPr lang="ru-RU" sz="1200" baseline="0" dirty="0"/>
              <a:t> продаж по всем точкам, на новой (Чертановская) продажи растут. Возможно связано с маркетинговой стратегией или скидками в первые дни работы. В таком диапазоне (4 дня) нельзя судить об операционной эффективности точек, скорее всего просто бонусы в честь открытия привлекли покупателей</a:t>
            </a: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f930d0fc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1f930d0fca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Количество</a:t>
            </a:r>
            <a:r>
              <a:rPr lang="ru-RU" sz="1200" baseline="0" dirty="0"/>
              <a:t> транзакций на 3 сервере сильно растет после запуска новой торговой точки, рост нагрузки более чем в 2 раза.</a:t>
            </a:r>
            <a:br>
              <a:rPr lang="ru-RU" sz="1200" baseline="0" dirty="0"/>
            </a:br>
            <a:r>
              <a:rPr lang="ru-RU" sz="1200" dirty="0"/>
              <a:t>Если перевести транзакции</a:t>
            </a:r>
            <a:r>
              <a:rPr lang="ru-RU" sz="1200" baseline="0" dirty="0"/>
              <a:t> Ракетного бульвара с 3 на 1 сервер, то нагрузка перераспределится более оптимально и 3 сервер не будет так загружен работая только на новую ТТ Чертановская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g31f930d0fca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f930d0fc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1f930d0fca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baseline="0" dirty="0"/>
              <a:t>Доля транзакций по кассам самообслуживания растет с момента открытия новой торговой точки (Чертановская)</a:t>
            </a:r>
          </a:p>
        </p:txBody>
      </p:sp>
      <p:sp>
        <p:nvSpPr>
          <p:cNvPr id="114" name="Google Shape;114;g31f930d0fca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f930d0fc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1f930d0fca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Средняя</a:t>
            </a:r>
            <a:r>
              <a:rPr lang="ru-RU" sz="1200" baseline="0" dirty="0"/>
              <a:t> длительность транзакции по кассе самообслуживания 155 секунд, что более чем в 2 раза превышает соответствующую длительность для обычных касс - 71 секунда.</a:t>
            </a:r>
            <a:br>
              <a:rPr lang="ru-RU" sz="1200" baseline="0" dirty="0"/>
            </a:br>
            <a:br>
              <a:rPr lang="ru-RU" sz="1200" baseline="0" dirty="0"/>
            </a:br>
            <a:r>
              <a:rPr lang="ru-RU" sz="1200" baseline="0" dirty="0"/>
              <a:t>После открытия новой торговой точки средняя длительность всех транзакций показывает пологий рост со 2 по 4 сентября. 1 сентября наблюдается нехарактерное повышение длительности операции, причины которого еще предстоит раскрыть</a:t>
            </a:r>
            <a:br>
              <a:rPr lang="ru-RU" sz="1200" baseline="0" dirty="0"/>
            </a:br>
            <a:br>
              <a:rPr lang="ru-RU" sz="1200" baseline="0" dirty="0"/>
            </a:b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0" name="Google Shape;120;g31f930d0fca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e7d5ebb8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С</a:t>
            </a:r>
            <a:r>
              <a:rPr lang="ru-RU" sz="1200" baseline="0" dirty="0"/>
              <a:t> 2 до 7 часов пиковые значения по адресу ул. Щорса 26/3. Причина: ночные сбои интернет </a:t>
            </a:r>
            <a:r>
              <a:rPr lang="ru-RU" sz="1200" baseline="0" dirty="0" err="1"/>
              <a:t>соедниения</a:t>
            </a:r>
            <a:r>
              <a:rPr lang="ru-RU" sz="1200" baseline="0" dirty="0"/>
              <a:t> в Солнцевском районе Москвы (ул. Щорса 26/3 как раз там)</a:t>
            </a:r>
            <a:br>
              <a:rPr lang="ru-RU" sz="1200" baseline="0" dirty="0"/>
            </a:br>
            <a:br>
              <a:rPr lang="ru-RU" sz="1200" baseline="0" dirty="0"/>
            </a:br>
            <a:r>
              <a:rPr lang="ru-RU" sz="1200" baseline="0" dirty="0"/>
              <a:t>С 10 до 16 часов значительное увеличение длительности транзакции по адресам Ленинский пр-т 162/1 и пр-т Вернадского 88к3. Причина: Маркетинговая акция - 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скидка однодневка. На</a:t>
            </a:r>
            <a:r>
              <a:rPr lang="ru-RU" sz="1200" baseline="0" dirty="0"/>
              <a:t> Юго-западе Москвы особенно сказалась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7" name="Google Shape;127;g31e7d5ebb8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2938f61d5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С</a:t>
            </a:r>
            <a:r>
              <a:rPr lang="ru-RU" sz="1200" baseline="0" dirty="0"/>
              <a:t> 10 до 16 часов рост среднего времени транзакции  по 2 серверу. Причина: Маркетинговая акция повлияла на объем транзакции на Юго-западе Москвы, а это торговые точки по адресам 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Ленинский пр-т 162/1 и пр-т Вернадского 88к3 - они обе подключены ко 2 серверу.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2" name="Google Shape;132;g2e2938f61d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ff30b3ca9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Количество транзакций по</a:t>
            </a:r>
            <a:r>
              <a:rPr lang="ru-RU" sz="1200" baseline="0" dirty="0"/>
              <a:t> адресам 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Ленинский пр-т 162/1 и пр-т Вернадского 88к3 увеличивалось в период с 10 до 16 часов, что подтверждает гипотезу об увеличении нагрузки благодаря маркетинговой кампании. </a:t>
            </a:r>
            <a:b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Скидки однодневки на Юго-Западе Москвы привели к увеличению количества транзакций.</a:t>
            </a:r>
            <a:endParaRPr lang="ru-RU" sz="1200" baseline="0" dirty="0"/>
          </a:p>
        </p:txBody>
      </p:sp>
      <p:sp>
        <p:nvSpPr>
          <p:cNvPr id="137" name="Google Shape;137;g31ff30b3ca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e7d5ebb8d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С</a:t>
            </a:r>
            <a:r>
              <a:rPr lang="ru-RU" sz="1200" baseline="0" dirty="0"/>
              <a:t> 2 до 7 скачки продолжительности транзакций по всем платежным системам. Причина: 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ночные сбои интернет соединения в Солнцевском районе Москвы</a:t>
            </a:r>
            <a:b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С 10 до 16 увеличенное время транзакций. Причина: Маркетинговая акция на Юго-западе Москвы, скидка однодневка.</a:t>
            </a:r>
            <a:b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 17 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часов увеличивается время операции по </a:t>
            </a:r>
            <a:r>
              <a:rPr lang="en-US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MasterCard.</a:t>
            </a:r>
            <a:r>
              <a:rPr lang="ru-RU" sz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Доля операций этой платежной системы 9,49% за период с 17 до 23 - соответственно влияние на общее увеличение среднего времени транзакции незначительное</a:t>
            </a:r>
            <a:endParaRPr lang="ru-RU" sz="1200" dirty="0"/>
          </a:p>
        </p:txBody>
      </p:sp>
      <p:sp>
        <p:nvSpPr>
          <p:cNvPr id="142" name="Google Shape;142;g31e7d5ebb8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88252dc4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88252dc4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Инциденты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788390e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2788390e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000" dirty="0"/>
              <a:t>5.09 с 0 до 9 значительно возросла средняя длительность транзакции до 139 сек. Рост длительности по отношению к оставшемуся</a:t>
            </a:r>
            <a:r>
              <a:rPr lang="ru-RU" sz="1000" baseline="0" dirty="0"/>
              <a:t> периоду 42,5%. Причина: сбой работы сервера 1 в этот день.</a:t>
            </a:r>
            <a:br>
              <a:rPr lang="ru-RU" sz="1000" baseline="0" dirty="0"/>
            </a:br>
            <a:br>
              <a:rPr lang="ru-RU" sz="1000" baseline="0" dirty="0"/>
            </a:br>
            <a:r>
              <a:rPr lang="ru-RU" sz="1000" dirty="0"/>
              <a:t>6.09 у</a:t>
            </a:r>
            <a:r>
              <a:rPr lang="ru-RU" sz="1000" baseline="0" dirty="0"/>
              <a:t> клиентов с картой лояльности на кассах самообслуживания возросла средняя продолжительность транзакции до 230 сек. </a:t>
            </a:r>
            <a:r>
              <a:rPr lang="ru-RU" sz="1000" dirty="0"/>
              <a:t>Прирост длительности составил</a:t>
            </a:r>
            <a:r>
              <a:rPr lang="ru-RU" sz="1000" baseline="0" dirty="0"/>
              <a:t> 23,6% по сравнению с аналогичным значением на следующий день (7.09). Причина: сбой работы сервера 1</a:t>
            </a:r>
            <a:endParaRPr lang="ru-RU" sz="1000" dirty="0"/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lang="ru-RU"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000" dirty="0"/>
              <a:t>7.09 в 12 часов дня значительно возросла средняя длительность транзакции до 114 сек. Прирост длительности составил</a:t>
            </a:r>
            <a:r>
              <a:rPr lang="ru-RU" sz="1000" baseline="0" dirty="0"/>
              <a:t> 69,1%. Причина: сбой работы сервера 2 в 12 часов</a:t>
            </a:r>
            <a:endParaRPr lang="ru-RU" sz="10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88252dc4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88252dc4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Маркетинговые активности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8923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b2b67c0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2b2b67c0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000" dirty="0"/>
              <a:t>Рост среднего чека на 7,22%</a:t>
            </a:r>
            <a:r>
              <a:rPr lang="ru-RU" sz="1000" baseline="0" dirty="0"/>
              <a:t> 7 сентября связан с проведением маркетинговой акции. </a:t>
            </a:r>
            <a:r>
              <a:rPr lang="ru-RU" sz="1000" baseline="0" dirty="0" err="1"/>
              <a:t>Аплифт</a:t>
            </a:r>
            <a:r>
              <a:rPr lang="ru-RU" sz="1000" baseline="0" dirty="0"/>
              <a:t> в номинальном выражении 1332 рубля (на столько увеличился средний чек 7 сентября)</a:t>
            </a:r>
          </a:p>
          <a:p>
            <a:r>
              <a:rPr lang="ru-RU" sz="1000" baseline="0" dirty="0"/>
              <a:t>Акция стоила 2 418 500 рублей, и принесла выручки на 13 388 606 рублей, что свидетельствует о ее успехе. </a:t>
            </a:r>
          </a:p>
          <a:p>
            <a:r>
              <a:rPr lang="ru-RU" sz="1000" baseline="0" dirty="0"/>
              <a:t>Однако, акция проводилась среди клиентов имеющих карту лояльности, и среди них средний чек вырос, а среди "не лояльных клиентов" изменение среднего чека не оценивалось.</a:t>
            </a:r>
          </a:p>
          <a:p>
            <a:endParaRPr lang="ru-RU" sz="1000" baseline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7d5ebb8d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На слайде представлены данные скидок по карте лояльности за период с 5 по 7 сентября 2022</a:t>
            </a:r>
            <a:endParaRPr dirty="0"/>
          </a:p>
        </p:txBody>
      </p:sp>
      <p:sp>
        <p:nvSpPr>
          <p:cNvPr id="162" name="Google Shape;162;g31e7d5ebb8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Текущий размер скидок по программе лояльности выглядит следующим образом, 4% скидка имеет наибольший объем</a:t>
            </a:r>
            <a:endParaRPr dirty="0"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4c53e92e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Предлагаю скидки выше 3% все привести к максимальному значению 3%.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Ограничение скидок выше 3%</a:t>
            </a:r>
            <a:r>
              <a:rPr lang="ru-RU" sz="1200" baseline="0" dirty="0"/>
              <a:t> позволит сэкономить до 12,5% расходов на программу лояльности, в абсолютном выражении это 487 299 рублей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3" name="Google Shape;173;g374c53e92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88252dc4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88252dc4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Операционная отчетность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34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b0eb2866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Для получения данных в онлайн таблице гугл </a:t>
            </a:r>
            <a:r>
              <a:rPr lang="ru-RU" dirty="0" err="1"/>
              <a:t>шитс</a:t>
            </a:r>
            <a:r>
              <a:rPr lang="ru-RU" dirty="0"/>
              <a:t> был составлен </a:t>
            </a:r>
            <a:r>
              <a:rPr lang="ru-RU" dirty="0" err="1"/>
              <a:t>дашборд</a:t>
            </a:r>
            <a:r>
              <a:rPr lang="ru-RU" dirty="0"/>
              <a:t>. Вы можете выбрать нужные параметры детализации – адрес торговой точки, валюту, платежную систему и увидеть соответствующие данные по количеству транзакций, среднему чеку, объему транзакций по платежным системам</a:t>
            </a:r>
            <a:endParaRPr dirty="0"/>
          </a:p>
        </p:txBody>
      </p:sp>
      <p:sp>
        <p:nvSpPr>
          <p:cNvPr id="178" name="Google Shape;178;g32b0eb2866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f88252dc4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f88252dc4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Благодарю за внимание!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2788390e39_0_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2788390e39_0_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g32788390e39_0_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788390e39_0_247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2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2788390e39_0_247"/>
          <p:cNvSpPr txBox="1">
            <a:spLocks noGrp="1"/>
          </p:cNvSpPr>
          <p:nvPr>
            <p:ph type="body" idx="1"/>
          </p:nvPr>
        </p:nvSpPr>
        <p:spPr>
          <a:xfrm>
            <a:off x="889000" y="3536950"/>
            <a:ext cx="104142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5pPr>
            <a:lvl6pPr marL="2743200" lvl="5" indent="-2984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6pPr>
            <a:lvl7pPr marL="3200400" lvl="6" indent="-2984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8pPr>
            <a:lvl9pPr marL="4114800" lvl="8" indent="-2984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32788390e39_0_247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Title slide_alt1">
    <p:bg>
      <p:bgPr>
        <a:solidFill>
          <a:schemeClr val="l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shutterstock_429987889_edited.jpg"/>
          <p:cNvPicPr preferRelativeResize="0"/>
          <p:nvPr/>
        </p:nvPicPr>
        <p:blipFill rotWithShape="1">
          <a:blip r:embed="rId2">
            <a:alphaModFix/>
          </a:blip>
          <a:srcRect t="21799" b="23591"/>
          <a:stretch/>
        </p:blipFill>
        <p:spPr>
          <a:xfrm>
            <a:off x="0" y="650433"/>
            <a:ext cx="12192000" cy="620756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24" name="Google Shape;24;p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  <p:sp>
        <p:nvSpPr>
          <p:cNvPr id="30" name="Google Shape;30;p3">
            <a:hlinkClick r:id="rId3" action="ppaction://hlinksldjump"/>
          </p:cNvPr>
          <p:cNvSpPr/>
          <p:nvPr/>
        </p:nvSpPr>
        <p:spPr>
          <a:xfrm>
            <a:off x="11040600" y="0"/>
            <a:ext cx="1151200" cy="60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cxnSp>
        <p:nvCxnSpPr>
          <p:cNvPr id="31" name="Google Shape;31;p3">
            <a:hlinkClick r:id="rId3" action="ppaction://hlinksldjump"/>
          </p:cNvPr>
          <p:cNvCxnSpPr/>
          <p:nvPr/>
        </p:nvCxnSpPr>
        <p:spPr>
          <a:xfrm>
            <a:off x="11465089" y="28846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3">
            <a:hlinkClick r:id="rId3" action="ppaction://hlinksldjump"/>
          </p:cNvPr>
          <p:cNvCxnSpPr/>
          <p:nvPr/>
        </p:nvCxnSpPr>
        <p:spPr>
          <a:xfrm>
            <a:off x="11465089" y="33351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3">
            <a:hlinkClick r:id="rId3" action="ppaction://hlinksldjump"/>
          </p:cNvPr>
          <p:cNvCxnSpPr/>
          <p:nvPr/>
        </p:nvCxnSpPr>
        <p:spPr>
          <a:xfrm>
            <a:off x="11465089" y="37856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8693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_alt2">
  <p:cSld name="Section Header_alt2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7" descr="shutterstock_31891705.jpg"/>
          <p:cNvPicPr preferRelativeResize="0"/>
          <p:nvPr/>
        </p:nvPicPr>
        <p:blipFill rotWithShape="1">
          <a:blip r:embed="rId2">
            <a:alphaModFix/>
          </a:blip>
          <a:srcRect t="11971" b="11971"/>
          <a:stretch/>
        </p:blipFill>
        <p:spPr>
          <a:xfrm>
            <a:off x="1" y="650434"/>
            <a:ext cx="12191999" cy="62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" name="Google Shape;67;p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  <p:sp>
        <p:nvSpPr>
          <p:cNvPr id="68" name="Google Shape;68;p7">
            <a:hlinkClick r:id="rId3" action="ppaction://hlinksldjump"/>
          </p:cNvPr>
          <p:cNvSpPr/>
          <p:nvPr/>
        </p:nvSpPr>
        <p:spPr>
          <a:xfrm>
            <a:off x="11040600" y="0"/>
            <a:ext cx="1151200" cy="60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cxnSp>
        <p:nvCxnSpPr>
          <p:cNvPr id="69" name="Google Shape;69;p7">
            <a:hlinkClick r:id="rId3" action="ppaction://hlinksldjump"/>
          </p:cNvPr>
          <p:cNvCxnSpPr/>
          <p:nvPr/>
        </p:nvCxnSpPr>
        <p:spPr>
          <a:xfrm>
            <a:off x="11465089" y="28846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7">
            <a:hlinkClick r:id="rId3" action="ppaction://hlinksldjump"/>
          </p:cNvPr>
          <p:cNvCxnSpPr/>
          <p:nvPr/>
        </p:nvCxnSpPr>
        <p:spPr>
          <a:xfrm>
            <a:off x="11465089" y="33351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7">
            <a:hlinkClick r:id="rId3" action="ppaction://hlinksldjump"/>
          </p:cNvPr>
          <p:cNvCxnSpPr/>
          <p:nvPr/>
        </p:nvCxnSpPr>
        <p:spPr>
          <a:xfrm>
            <a:off x="11465089" y="378567"/>
            <a:ext cx="2884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972600" y="2741833"/>
            <a:ext cx="78500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475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5400" b="1" dirty="0">
                <a:solidFill>
                  <a:srgbClr val="000000"/>
                </a:solidFill>
                <a:latin typeface="+mj-lt"/>
              </a:rPr>
              <a:t>Фрейм ритейл сети</a:t>
            </a:r>
            <a:br>
              <a:rPr lang="ru-RU" sz="5400" b="1" dirty="0">
                <a:solidFill>
                  <a:srgbClr val="000000"/>
                </a:solidFill>
                <a:latin typeface="+mj-lt"/>
              </a:rPr>
            </a:br>
            <a:r>
              <a:rPr lang="ru-RU" sz="4400" dirty="0">
                <a:solidFill>
                  <a:srgbClr val="000000"/>
                </a:solidFill>
                <a:latin typeface="+mj-lt"/>
              </a:rPr>
              <a:t>сентябрь 2022</a:t>
            </a:r>
            <a:endParaRPr lang="ru-RU" sz="5400" dirty="0">
              <a:latin typeface="+mj-lt"/>
            </a:endParaRPr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972600" y="4084573"/>
            <a:ext cx="10250800" cy="7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u" sz="2000" b="1" dirty="0">
                <a:latin typeface="+mj-lt"/>
              </a:rPr>
              <a:t>Антон Топтыгин</a:t>
            </a:r>
            <a:endParaRPr sz="2000"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59113" y="239502"/>
            <a:ext cx="1147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chemeClr val="lt1"/>
                </a:solidFill>
              </a:rPr>
              <a:t>ДИНАМИКА ПРОДАЖ ПО ТОРГОВЫМ ТОЧКАМ</a:t>
            </a:r>
            <a:endParaRPr sz="3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D7AE2A99-2D95-53AD-1AE9-66D380023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6410360"/>
              </p:ext>
            </p:extLst>
          </p:nvPr>
        </p:nvGraphicFramePr>
        <p:xfrm>
          <a:off x="388883" y="987972"/>
          <a:ext cx="5633545" cy="475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5A9103C3-6271-77C7-8410-080109ADB0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0119895"/>
              </p:ext>
            </p:extLst>
          </p:nvPr>
        </p:nvGraphicFramePr>
        <p:xfrm>
          <a:off x="5894814" y="933856"/>
          <a:ext cx="5887283" cy="4573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89250361-1D5F-2414-00A8-105B43BDBB76}"/>
              </a:ext>
            </a:extLst>
          </p:cNvPr>
          <p:cNvSpPr txBox="1"/>
          <p:nvPr/>
        </p:nvSpPr>
        <p:spPr>
          <a:xfrm>
            <a:off x="458961" y="5762689"/>
            <a:ext cx="11473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accent5"/>
                </a:solidFill>
                <a:latin typeface="+mj-lt"/>
                <a:ea typeface="Arial"/>
                <a:cs typeface="Arial"/>
                <a:sym typeface="Arial"/>
              </a:rPr>
              <a:t>Продажи на Симферопольском бульваре снижаются после открытия новой торговой точки на Чертановской, но общий объем продаж заметно растет</a:t>
            </a:r>
            <a:endParaRPr sz="2000" b="1" i="0" u="none" strike="noStrike" cap="none" dirty="0">
              <a:solidFill>
                <a:schemeClr val="accent5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f930d0fca_0_29"/>
          <p:cNvSpPr txBox="1"/>
          <p:nvPr/>
        </p:nvSpPr>
        <p:spPr>
          <a:xfrm>
            <a:off x="359113" y="239502"/>
            <a:ext cx="1147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000" b="1">
                <a:solidFill>
                  <a:schemeClr val="dk1"/>
                </a:solidFill>
              </a:rPr>
              <a:t>ПЕРЕРАСПРЕДЕЛЕНИЕ НАГРУЗКИ ПО СЕРВЕРАМ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2AE07534-D698-49B1-7B8F-CB4DA9F86F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009968"/>
              </p:ext>
            </p:extLst>
          </p:nvPr>
        </p:nvGraphicFramePr>
        <p:xfrm>
          <a:off x="488322" y="1040521"/>
          <a:ext cx="5502575" cy="4508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6690B5E4-5808-577C-9E32-1B5567973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027818"/>
              </p:ext>
            </p:extLst>
          </p:nvPr>
        </p:nvGraphicFramePr>
        <p:xfrm>
          <a:off x="6224206" y="1008991"/>
          <a:ext cx="5578907" cy="4550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5A7909D7-EC31-9BBD-DC63-DA55AD0A1E23}"/>
              </a:ext>
            </a:extLst>
          </p:cNvPr>
          <p:cNvSpPr txBox="1"/>
          <p:nvPr/>
        </p:nvSpPr>
        <p:spPr>
          <a:xfrm>
            <a:off x="634117" y="5689116"/>
            <a:ext cx="1104287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Снижаем нагрузку на 3 сервер, оставляем на нем только новую ТТ (Чертановская), ТТ по адресу Ракетный бульвар переводим на сервер 1</a:t>
            </a:r>
            <a:endParaRPr sz="2000" b="1" i="0" u="none" strike="noStrike" cap="none" dirty="0">
              <a:solidFill>
                <a:schemeClr val="bg1">
                  <a:lumMod val="50000"/>
                </a:schemeClr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f930d0fca_0_43"/>
          <p:cNvSpPr txBox="1"/>
          <p:nvPr/>
        </p:nvSpPr>
        <p:spPr>
          <a:xfrm>
            <a:off x="359113" y="239502"/>
            <a:ext cx="1147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000" b="1">
                <a:solidFill>
                  <a:schemeClr val="dk1"/>
                </a:solidFill>
              </a:rPr>
              <a:t>СПОСОБЫ ОПЛАТЫ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ADE1AE8C-7FFE-33F9-9643-9D0CB85874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403282"/>
              </p:ext>
            </p:extLst>
          </p:nvPr>
        </p:nvGraphicFramePr>
        <p:xfrm>
          <a:off x="457071" y="995329"/>
          <a:ext cx="6216997" cy="4732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F4ACE2-AE94-C82C-AF33-7D82BD97361B}"/>
              </a:ext>
            </a:extLst>
          </p:cNvPr>
          <p:cNvSpPr txBox="1"/>
          <p:nvPr/>
        </p:nvSpPr>
        <p:spPr>
          <a:xfrm>
            <a:off x="851339" y="7867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Оранжевые -</a:t>
            </a:r>
            <a:r>
              <a:rPr lang="ru-RU" sz="16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кассы самообслуживания. Синие - обычные кассы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B63D51C7-F22D-0681-0919-1E5E0AE4C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5070625"/>
              </p:ext>
            </p:extLst>
          </p:nvPr>
        </p:nvGraphicFramePr>
        <p:xfrm>
          <a:off x="6761172" y="785648"/>
          <a:ext cx="5094497" cy="500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1F150FA-CC6B-3A4C-E668-4E6CAD400AF0}"/>
              </a:ext>
            </a:extLst>
          </p:cNvPr>
          <p:cNvSpPr txBox="1"/>
          <p:nvPr/>
        </p:nvSpPr>
        <p:spPr>
          <a:xfrm>
            <a:off x="501003" y="5804730"/>
            <a:ext cx="1119701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accent2"/>
                </a:solidFill>
                <a:latin typeface="+mj-lt"/>
                <a:ea typeface="Arial"/>
                <a:cs typeface="Arial"/>
                <a:sym typeface="Arial"/>
              </a:rPr>
              <a:t>С запуском новой ТТ увеличилась популярность касс самообслуживания</a:t>
            </a:r>
            <a:endParaRPr sz="2000" b="1" i="0" u="none" strike="noStrike" cap="none" dirty="0">
              <a:solidFill>
                <a:schemeClr val="accent2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930d0fca_0_37"/>
          <p:cNvSpPr txBox="1"/>
          <p:nvPr/>
        </p:nvSpPr>
        <p:spPr>
          <a:xfrm>
            <a:off x="359113" y="239502"/>
            <a:ext cx="1147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000" b="1" dirty="0">
                <a:solidFill>
                  <a:schemeClr val="dk1"/>
                </a:solidFill>
              </a:rPr>
              <a:t>ДЛИТЕЛЬНОСТЬ ТРАНЗАКЦИЙ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9C95173C-458A-9F20-CB82-4A66063497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7347012"/>
              </p:ext>
            </p:extLst>
          </p:nvPr>
        </p:nvGraphicFramePr>
        <p:xfrm>
          <a:off x="168166" y="977463"/>
          <a:ext cx="10899227" cy="4855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0A357753-E3E3-81AD-AB76-82D7CF557E3B}"/>
              </a:ext>
            </a:extLst>
          </p:cNvPr>
          <p:cNvSpPr txBox="1"/>
          <p:nvPr/>
        </p:nvSpPr>
        <p:spPr>
          <a:xfrm>
            <a:off x="501003" y="5804730"/>
            <a:ext cx="1119701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accent5"/>
                </a:solidFill>
                <a:latin typeface="+mj-lt"/>
                <a:ea typeface="Arial"/>
                <a:cs typeface="Arial"/>
                <a:sym typeface="Arial"/>
              </a:rPr>
              <a:t>С запуском новой ТТ наблюдается пологий рост длительности транзакций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bg2"/>
                </a:solidFill>
                <a:latin typeface="+mj-lt"/>
                <a:ea typeface="Arial"/>
                <a:cs typeface="Arial"/>
                <a:sym typeface="Arial"/>
              </a:rPr>
              <a:t>1 сентября – аномалия, причины далее</a:t>
            </a:r>
            <a:endParaRPr sz="2000" b="1" i="0" u="none" strike="noStrike" cap="none" dirty="0">
              <a:solidFill>
                <a:schemeClr val="bg2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e7d5ebb8d_0_1"/>
          <p:cNvSpPr txBox="1"/>
          <p:nvPr/>
        </p:nvSpPr>
        <p:spPr>
          <a:xfrm>
            <a:off x="359113" y="239502"/>
            <a:ext cx="11473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000" b="1" dirty="0">
                <a:solidFill>
                  <a:schemeClr val="lt1"/>
                </a:solidFill>
              </a:rPr>
              <a:t>СРЕДНЯЯ ДЛИТЕЛЬНОСТЬ ТРАНЗАКЦИЙ ПО ТОРГОВЫМ ТОЧКАМ 1 СЕНТЯБРЯ 2022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60F25924-4DB4-FA10-5C4A-BFCB06EFE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534768"/>
              </p:ext>
            </p:extLst>
          </p:nvPr>
        </p:nvGraphicFramePr>
        <p:xfrm>
          <a:off x="516468" y="1255302"/>
          <a:ext cx="10972800" cy="5082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2938f61d5_0_29"/>
          <p:cNvSpPr txBox="1"/>
          <p:nvPr/>
        </p:nvSpPr>
        <p:spPr>
          <a:xfrm>
            <a:off x="359113" y="239502"/>
            <a:ext cx="1147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000" b="1">
                <a:solidFill>
                  <a:schemeClr val="dk1"/>
                </a:solidFill>
              </a:rPr>
              <a:t>СРЕДНЯЯ ДЛИТЕЛЬНОСТЬ ТРАНЗАКЦИЙ ПО СЕРВЕРАМ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64C3BB34-DC61-3929-E53C-ABBC202184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5982171"/>
              </p:ext>
            </p:extLst>
          </p:nvPr>
        </p:nvGraphicFramePr>
        <p:xfrm>
          <a:off x="372533" y="1059102"/>
          <a:ext cx="11057467" cy="5172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43B4AC-8818-3267-93F1-4E90A3E70831}"/>
              </a:ext>
            </a:extLst>
          </p:cNvPr>
          <p:cNvSpPr/>
          <p:nvPr/>
        </p:nvSpPr>
        <p:spPr>
          <a:xfrm>
            <a:off x="5280573" y="1124606"/>
            <a:ext cx="2444530" cy="4579883"/>
          </a:xfrm>
          <a:prstGeom prst="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ru-RU" sz="11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DA12BE-45E8-F5F2-BAA4-BF0215198029}"/>
              </a:ext>
            </a:extLst>
          </p:cNvPr>
          <p:cNvSpPr txBox="1"/>
          <p:nvPr/>
        </p:nvSpPr>
        <p:spPr>
          <a:xfrm>
            <a:off x="5464503" y="3591910"/>
            <a:ext cx="2019740" cy="893379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b="1" dirty="0"/>
              <a:t>2 сервер – Юго-запад Москвы, там и проводилась маркетинговая акция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ff30b3ca9_0_1"/>
          <p:cNvSpPr txBox="1"/>
          <p:nvPr/>
        </p:nvSpPr>
        <p:spPr>
          <a:xfrm>
            <a:off x="359113" y="239502"/>
            <a:ext cx="11473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lt2"/>
                </a:solidFill>
              </a:rPr>
              <a:t>КОЛИЧЕСТВО ТРАНЗАКЦИИ ПО АДРЕСАМ ТОРГОВЫХ ТОЧЕК</a:t>
            </a:r>
            <a:endParaRPr sz="32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72DF0BF4-9F74-644F-AAFA-34908545C7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2300097"/>
              </p:ext>
            </p:extLst>
          </p:nvPr>
        </p:nvGraphicFramePr>
        <p:xfrm>
          <a:off x="367862" y="1457756"/>
          <a:ext cx="11361683" cy="4995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FBFDC8-5C04-56E6-869C-481CF28B0493}"/>
              </a:ext>
            </a:extLst>
          </p:cNvPr>
          <p:cNvSpPr/>
          <p:nvPr/>
        </p:nvSpPr>
        <p:spPr>
          <a:xfrm>
            <a:off x="5764049" y="798786"/>
            <a:ext cx="2623206" cy="4579883"/>
          </a:xfrm>
          <a:prstGeom prst="rect">
            <a:avLst/>
          </a:prstGeom>
          <a:solidFill>
            <a:srgbClr val="92D05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ru-RU" sz="11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06804847-391D-A415-D446-8E616CE807F7}"/>
              </a:ext>
            </a:extLst>
          </p:cNvPr>
          <p:cNvSpPr txBox="1"/>
          <p:nvPr/>
        </p:nvSpPr>
        <p:spPr>
          <a:xfrm>
            <a:off x="5770179" y="1093075"/>
            <a:ext cx="2617076" cy="693683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b="1" dirty="0">
                <a:solidFill>
                  <a:schemeClr val="tx2"/>
                </a:solidFill>
              </a:rPr>
              <a:t>Маркетинговая акция увеличила число транзакций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7d5ebb8d_0_22"/>
          <p:cNvSpPr txBox="1"/>
          <p:nvPr/>
        </p:nvSpPr>
        <p:spPr>
          <a:xfrm>
            <a:off x="359113" y="239502"/>
            <a:ext cx="11473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chemeClr val="lt1"/>
                </a:solidFill>
              </a:rPr>
              <a:t>СРЕДНЯЯ ДЛИТЕЛЬНОСТЬ ТРАНЗАКЦИИ ПО ПЛАТЕЖНЫМ СИСТЕМАМ</a:t>
            </a:r>
            <a:endParaRPr sz="3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5D8083C8-70B0-2CD0-93A3-694DF3701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128469"/>
              </p:ext>
            </p:extLst>
          </p:nvPr>
        </p:nvGraphicFramePr>
        <p:xfrm>
          <a:off x="297635" y="1461176"/>
          <a:ext cx="11316296" cy="4866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484DE5-964F-B96B-116A-04994A262B10}"/>
              </a:ext>
            </a:extLst>
          </p:cNvPr>
          <p:cNvSpPr/>
          <p:nvPr/>
        </p:nvSpPr>
        <p:spPr>
          <a:xfrm>
            <a:off x="5806090" y="1639614"/>
            <a:ext cx="2570655" cy="3907220"/>
          </a:xfrm>
          <a:prstGeom prst="rect">
            <a:avLst/>
          </a:prstGeom>
          <a:solidFill>
            <a:srgbClr val="92D05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ru-RU" sz="11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CD6B0EF-7037-370C-FCE5-A1CD5A43D33E}"/>
              </a:ext>
            </a:extLst>
          </p:cNvPr>
          <p:cNvSpPr txBox="1"/>
          <p:nvPr/>
        </p:nvSpPr>
        <p:spPr>
          <a:xfrm>
            <a:off x="5812220" y="1692164"/>
            <a:ext cx="2564648" cy="693683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b="1" dirty="0">
                <a:solidFill>
                  <a:schemeClr val="tx2"/>
                </a:solidFill>
              </a:rPr>
              <a:t>Влияние маркетинговой акции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C1319A-AE51-DE76-BF2D-83C5AC4CBBCD}"/>
              </a:ext>
            </a:extLst>
          </p:cNvPr>
          <p:cNvSpPr/>
          <p:nvPr/>
        </p:nvSpPr>
        <p:spPr>
          <a:xfrm>
            <a:off x="2458545" y="1629103"/>
            <a:ext cx="2113455" cy="3933496"/>
          </a:xfrm>
          <a:prstGeom prst="rect">
            <a:avLst/>
          </a:prstGeom>
          <a:solidFill>
            <a:srgbClr val="FF000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ru-RU" sz="11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D88FD17-4A87-D0CD-5072-804D735D9C64}"/>
              </a:ext>
            </a:extLst>
          </p:cNvPr>
          <p:cNvSpPr txBox="1"/>
          <p:nvPr/>
        </p:nvSpPr>
        <p:spPr>
          <a:xfrm>
            <a:off x="2433144" y="2485695"/>
            <a:ext cx="2108516" cy="693683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b="1" dirty="0">
                <a:solidFill>
                  <a:schemeClr val="tx2"/>
                </a:solidFill>
              </a:rPr>
              <a:t>Интернет сбои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972600" y="2741119"/>
            <a:ext cx="69376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Aft>
                <a:spcPts val="2133"/>
              </a:spcAft>
            </a:pPr>
            <a:r>
              <a:rPr lang="ru" sz="64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ИНЦИДЕНТЫ</a:t>
            </a:r>
            <a:endParaRPr sz="64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788390e39_0_0"/>
          <p:cNvSpPr txBox="1"/>
          <p:nvPr/>
        </p:nvSpPr>
        <p:spPr>
          <a:xfrm>
            <a:off x="359123" y="239500"/>
            <a:ext cx="969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dk1"/>
                </a:solidFill>
              </a:rPr>
              <a:t>ТЕХНИЧЕСКИЕ ПРОБЛЕМЫ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ADC1EEF3-14AA-DA2C-96FE-17EB01AAF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905282"/>
              </p:ext>
            </p:extLst>
          </p:nvPr>
        </p:nvGraphicFramePr>
        <p:xfrm>
          <a:off x="330816" y="1005990"/>
          <a:ext cx="5575998" cy="2809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87D25BF3-BB6B-DC41-A989-46CBAE8F45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9695291"/>
              </p:ext>
            </p:extLst>
          </p:nvPr>
        </p:nvGraphicFramePr>
        <p:xfrm>
          <a:off x="6547947" y="325819"/>
          <a:ext cx="5055475" cy="4518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253319C-05A7-E03C-5A38-7E268DB3B3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778854"/>
              </p:ext>
            </p:extLst>
          </p:nvPr>
        </p:nvGraphicFramePr>
        <p:xfrm>
          <a:off x="349657" y="3929461"/>
          <a:ext cx="5651750" cy="2824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Google Shape;102;p2">
            <a:extLst>
              <a:ext uri="{FF2B5EF4-FFF2-40B4-BE49-F238E27FC236}">
                <a16:creationId xmlns:a16="http://schemas.microsoft.com/office/drawing/2014/main" id="{33E974DE-AB88-7FC1-0660-27ADB5791CDE}"/>
              </a:ext>
            </a:extLst>
          </p:cNvPr>
          <p:cNvSpPr txBox="1"/>
          <p:nvPr/>
        </p:nvSpPr>
        <p:spPr>
          <a:xfrm>
            <a:off x="6428464" y="4906846"/>
            <a:ext cx="504508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accent5"/>
                </a:solidFill>
                <a:latin typeface="+mj-lt"/>
                <a:ea typeface="Arial"/>
                <a:cs typeface="Arial"/>
                <a:sym typeface="Arial"/>
              </a:rPr>
              <a:t>5 и 6 сентября </a:t>
            </a:r>
            <a:r>
              <a:rPr lang="ru-RU" sz="2000" i="0" u="none" strike="noStrike" cap="none" dirty="0">
                <a:solidFill>
                  <a:schemeClr val="accent5"/>
                </a:solidFill>
                <a:latin typeface="+mj-lt"/>
                <a:ea typeface="Arial"/>
                <a:cs typeface="Arial"/>
                <a:sym typeface="Arial"/>
              </a:rPr>
              <a:t>были сбои в работе </a:t>
            </a:r>
            <a:r>
              <a:rPr lang="ru-RU" sz="2000" b="1" i="0" u="none" strike="noStrike" cap="none" dirty="0">
                <a:solidFill>
                  <a:schemeClr val="accent5"/>
                </a:solidFill>
                <a:latin typeface="+mj-lt"/>
                <a:ea typeface="Arial"/>
                <a:cs typeface="Arial"/>
                <a:sym typeface="Arial"/>
              </a:rPr>
              <a:t>сервера №1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1800" i="0" u="none" strike="noStrike" cap="none" dirty="0">
              <a:solidFill>
                <a:schemeClr val="accent5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000" b="1" dirty="0">
                <a:solidFill>
                  <a:schemeClr val="accent5"/>
                </a:solidFill>
                <a:latin typeface="+mj-lt"/>
              </a:rPr>
              <a:t>7 сентября </a:t>
            </a:r>
            <a:r>
              <a:rPr lang="ru-RU" sz="2000" dirty="0">
                <a:solidFill>
                  <a:schemeClr val="accent5"/>
                </a:solidFill>
                <a:latin typeface="+mj-lt"/>
              </a:rPr>
              <a:t>– сбои в работе </a:t>
            </a:r>
            <a:r>
              <a:rPr lang="ru-RU" sz="2000" b="1" dirty="0">
                <a:solidFill>
                  <a:schemeClr val="accent5"/>
                </a:solidFill>
                <a:latin typeface="+mj-lt"/>
              </a:rPr>
              <a:t>сервера №2</a:t>
            </a:r>
            <a:r>
              <a:rPr lang="ru-RU" sz="2000" dirty="0">
                <a:solidFill>
                  <a:schemeClr val="accent5"/>
                </a:solidFill>
                <a:latin typeface="+mj-lt"/>
              </a:rPr>
              <a:t> в 12 часов</a:t>
            </a:r>
            <a:endParaRPr sz="2000" i="0" u="none" strike="noStrike" cap="none" dirty="0">
              <a:solidFill>
                <a:schemeClr val="accent5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972599" y="2741119"/>
            <a:ext cx="8222916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Aft>
                <a:spcPts val="2133"/>
              </a:spcAft>
            </a:pPr>
            <a:r>
              <a:rPr lang="ru" sz="64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МАРКЕТИНГОВЫЕ АКТИВНОСТИ</a:t>
            </a:r>
            <a:endParaRPr sz="64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17546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b2b67c03c_0_0"/>
          <p:cNvSpPr txBox="1"/>
          <p:nvPr/>
        </p:nvSpPr>
        <p:spPr>
          <a:xfrm>
            <a:off x="359123" y="239500"/>
            <a:ext cx="969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dk1"/>
                </a:solidFill>
              </a:rPr>
              <a:t>МАРКЕТИНГОВАЯ АКЦИЯ 7 СЕНТЯБРЯ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E9C26396-BF6D-6AD7-16F1-89875141A4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845255"/>
              </p:ext>
            </p:extLst>
          </p:nvPr>
        </p:nvGraphicFramePr>
        <p:xfrm>
          <a:off x="281521" y="954044"/>
          <a:ext cx="6056217" cy="368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D519282-59A0-1465-CA0D-DABAE6EAF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57166"/>
              </p:ext>
            </p:extLst>
          </p:nvPr>
        </p:nvGraphicFramePr>
        <p:xfrm>
          <a:off x="6625020" y="971914"/>
          <a:ext cx="5051973" cy="221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991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1683991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  <a:gridCol w="1683991">
                  <a:extLst>
                    <a:ext uri="{9D8B030D-6E8A-4147-A177-3AD203B41FA5}">
                      <a16:colId xmlns:a16="http://schemas.microsoft.com/office/drawing/2014/main" val="3414954690"/>
                    </a:ext>
                  </a:extLst>
                </a:gridCol>
              </a:tblGrid>
              <a:tr h="81193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Участники программы лояльности, человек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Приз,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Расходы,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250 000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100 000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2 068 500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2 418 500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741455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38617C7-CDBF-2BDF-C371-8F3B39223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8447"/>
              </p:ext>
            </p:extLst>
          </p:nvPr>
        </p:nvGraphicFramePr>
        <p:xfrm>
          <a:off x="492234" y="4561196"/>
          <a:ext cx="6055712" cy="177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928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1513928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  <a:gridCol w="1513928">
                  <a:extLst>
                    <a:ext uri="{9D8B030D-6E8A-4147-A177-3AD203B41FA5}">
                      <a16:colId xmlns:a16="http://schemas.microsoft.com/office/drawing/2014/main" val="3414954690"/>
                    </a:ext>
                  </a:extLst>
                </a:gridCol>
                <a:gridCol w="1513928">
                  <a:extLst>
                    <a:ext uri="{9D8B030D-6E8A-4147-A177-3AD203B41FA5}">
                      <a16:colId xmlns:a16="http://schemas.microsoft.com/office/drawing/2014/main" val="3613073559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транзакций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Средний чек,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18 519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187 409 945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18 358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187 567 202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19 770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198 747 570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30 390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18 879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573 724 717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741455"/>
                  </a:ext>
                </a:extLst>
              </a:tr>
            </a:tbl>
          </a:graphicData>
        </a:graphic>
      </p:graphicFrame>
      <p:sp>
        <p:nvSpPr>
          <p:cNvPr id="5" name="Google Shape;165;g31e7d5ebb8d_0_9">
            <a:extLst>
              <a:ext uri="{FF2B5EF4-FFF2-40B4-BE49-F238E27FC236}">
                <a16:creationId xmlns:a16="http://schemas.microsoft.com/office/drawing/2014/main" id="{DE7FEFAB-EA61-45C9-B795-E25DC41B15D3}"/>
              </a:ext>
            </a:extLst>
          </p:cNvPr>
          <p:cNvSpPr txBox="1"/>
          <p:nvPr/>
        </p:nvSpPr>
        <p:spPr>
          <a:xfrm>
            <a:off x="7178566" y="3753113"/>
            <a:ext cx="4614041" cy="230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dirty="0">
                <a:solidFill>
                  <a:srgbClr val="434343"/>
                </a:solidFill>
              </a:rPr>
              <a:t>Выручка - 13 338 605 руб.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ru-RU" sz="2500" dirty="0">
              <a:solidFill>
                <a:srgbClr val="434343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Затраты - 2 418 500 руб.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ru-RU" sz="25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1" dirty="0">
                <a:solidFill>
                  <a:srgbClr val="434343"/>
                </a:solidFill>
              </a:rPr>
              <a:t>Прибыль – 10 970 105 руб.</a:t>
            </a:r>
            <a:endParaRPr sz="25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e7d5ebb8d_0_9"/>
          <p:cNvSpPr txBox="1"/>
          <p:nvPr/>
        </p:nvSpPr>
        <p:spPr>
          <a:xfrm>
            <a:off x="359113" y="239502"/>
            <a:ext cx="1147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dk1"/>
                </a:solidFill>
              </a:rPr>
              <a:t>ПОТЕРИ ПО ПРОГРАММЕ ЛОЯЛЬНОСТИ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36CD144-74DD-9B20-9C75-64EB96F01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214335"/>
              </p:ext>
            </p:extLst>
          </p:nvPr>
        </p:nvGraphicFramePr>
        <p:xfrm>
          <a:off x="2268480" y="1555231"/>
          <a:ext cx="7600734" cy="1457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578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2533578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  <a:gridCol w="2533578">
                  <a:extLst>
                    <a:ext uri="{9D8B030D-6E8A-4147-A177-3AD203B41FA5}">
                      <a16:colId xmlns:a16="http://schemas.microsoft.com/office/drawing/2014/main" val="3414954690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транзакций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Средняя скидка на 1 транзакцию,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141F5F2-0136-4B0B-BD22-E70AE9C75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05791"/>
              </p:ext>
            </p:extLst>
          </p:nvPr>
        </p:nvGraphicFramePr>
        <p:xfrm>
          <a:off x="2263225" y="3967357"/>
          <a:ext cx="7584968" cy="156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76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5076892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Объем скидки  по программе лояльности,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1 296 681,64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1 309 110,31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1 288 096,89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3 893 888,83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86357"/>
                  </a:ext>
                </a:extLst>
              </a:tr>
            </a:tbl>
          </a:graphicData>
        </a:graphic>
      </p:graphicFrame>
      <p:sp>
        <p:nvSpPr>
          <p:cNvPr id="6" name="Google Shape;165;g31e7d5ebb8d_0_9">
            <a:extLst>
              <a:ext uri="{FF2B5EF4-FFF2-40B4-BE49-F238E27FC236}">
                <a16:creationId xmlns:a16="http://schemas.microsoft.com/office/drawing/2014/main" id="{9B024A13-14CA-F92C-5E29-62981BED9233}"/>
              </a:ext>
            </a:extLst>
          </p:cNvPr>
          <p:cNvSpPr txBox="1"/>
          <p:nvPr/>
        </p:nvSpPr>
        <p:spPr>
          <a:xfrm>
            <a:off x="2270234" y="3259126"/>
            <a:ext cx="7588470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Средняя скидка 1 клиента – 128 рублей</a:t>
            </a:r>
            <a:endParaRPr sz="20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/>
        </p:nvSpPr>
        <p:spPr>
          <a:xfrm>
            <a:off x="359113" y="239502"/>
            <a:ext cx="1147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chemeClr val="dk1"/>
                </a:solidFill>
              </a:rPr>
              <a:t>СЕГМЕНТАЦИЯ СКИДОК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C7B0C5-E321-89F7-0DD0-3D03E616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22795"/>
              </p:ext>
            </p:extLst>
          </p:nvPr>
        </p:nvGraphicFramePr>
        <p:xfrm>
          <a:off x="2294757" y="1013950"/>
          <a:ext cx="7584968" cy="219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76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5076892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Скидка,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none" strike="noStrike" dirty="0">
                          <a:effectLst/>
                        </a:rPr>
                        <a:t>244 870 ₽ 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none" strike="noStrike" dirty="0">
                          <a:effectLst/>
                        </a:rPr>
                        <a:t>718 949 ₽ 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none" strike="noStrike" dirty="0">
                          <a:effectLst/>
                        </a:rPr>
                        <a:t>1 226 936 ₽ 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8635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0" dirty="0"/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none" strike="noStrike" dirty="0">
                          <a:effectLst/>
                        </a:rPr>
                        <a:t>1 703 133 ₽ 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499831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dirty="0">
                          <a:effectLst/>
                        </a:rPr>
                        <a:t>3 893 889 ₽ </a:t>
                      </a:r>
                      <a:endParaRPr lang="ru-RU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219099"/>
                  </a:ext>
                </a:extLst>
              </a:tr>
            </a:tbl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855BBC8-208D-0C25-3BAB-F6483D8779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673034"/>
              </p:ext>
            </p:extLst>
          </p:nvPr>
        </p:nvGraphicFramePr>
        <p:xfrm>
          <a:off x="1341250" y="3479843"/>
          <a:ext cx="9883797" cy="288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4c53e92e5_0_0"/>
          <p:cNvSpPr txBox="1"/>
          <p:nvPr/>
        </p:nvSpPr>
        <p:spPr>
          <a:xfrm>
            <a:off x="359113" y="239502"/>
            <a:ext cx="11473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chemeClr val="dk1"/>
                </a:solidFill>
              </a:rPr>
              <a:t>СНИЖЕНИЕ СКИДОК ВЫШЕ 3% НА 1 ПРОЦЕНТНЫЙ ПУНКТ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56B82A14-89CC-F647-DDD0-9DFB137097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3866774"/>
              </p:ext>
            </p:extLst>
          </p:nvPr>
        </p:nvGraphicFramePr>
        <p:xfrm>
          <a:off x="2249345" y="1112262"/>
          <a:ext cx="7556807" cy="2766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E15A17D-8E2D-94CA-55F3-2273D0C99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783727"/>
              </p:ext>
            </p:extLst>
          </p:nvPr>
        </p:nvGraphicFramePr>
        <p:xfrm>
          <a:off x="492230" y="4172306"/>
          <a:ext cx="5193867" cy="1671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289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1731289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  <a:gridCol w="1731289">
                  <a:extLst>
                    <a:ext uri="{9D8B030D-6E8A-4147-A177-3AD203B41FA5}">
                      <a16:colId xmlns:a16="http://schemas.microsoft.com/office/drawing/2014/main" val="3414954690"/>
                    </a:ext>
                  </a:extLst>
                </a:gridCol>
              </a:tblGrid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транзакций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Новая средняя скидка на 1 транзакцию,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3132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</a:tbl>
          </a:graphicData>
        </a:graphic>
      </p:graphicFrame>
      <p:sp>
        <p:nvSpPr>
          <p:cNvPr id="5" name="Google Shape;165;g31e7d5ebb8d_0_9">
            <a:extLst>
              <a:ext uri="{FF2B5EF4-FFF2-40B4-BE49-F238E27FC236}">
                <a16:creationId xmlns:a16="http://schemas.microsoft.com/office/drawing/2014/main" id="{7329606C-82DF-E32B-4440-CD04426046AB}"/>
              </a:ext>
            </a:extLst>
          </p:cNvPr>
          <p:cNvSpPr txBox="1"/>
          <p:nvPr/>
        </p:nvSpPr>
        <p:spPr>
          <a:xfrm>
            <a:off x="493985" y="5981301"/>
            <a:ext cx="5181601" cy="375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Новая средняя скидка 1 клиента – 112 рублей</a:t>
            </a:r>
            <a:endParaRPr sz="16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DF71E94-3583-CBD9-F83D-1BB6B69B2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605859"/>
              </p:ext>
            </p:extLst>
          </p:nvPr>
        </p:nvGraphicFramePr>
        <p:xfrm>
          <a:off x="6106510" y="4167052"/>
          <a:ext cx="531823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549">
                  <a:extLst>
                    <a:ext uri="{9D8B030D-6E8A-4147-A177-3AD203B41FA5}">
                      <a16:colId xmlns:a16="http://schemas.microsoft.com/office/drawing/2014/main" val="3962716125"/>
                    </a:ext>
                  </a:extLst>
                </a:gridCol>
                <a:gridCol w="3559685">
                  <a:extLst>
                    <a:ext uri="{9D8B030D-6E8A-4147-A177-3AD203B41FA5}">
                      <a16:colId xmlns:a16="http://schemas.microsoft.com/office/drawing/2014/main" val="3922390301"/>
                    </a:ext>
                  </a:extLst>
                </a:gridCol>
              </a:tblGrid>
              <a:tr h="48128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Новые объемы скидки по программе лояльности, </a:t>
                      </a:r>
                      <a:r>
                        <a:rPr lang="ru-RU" dirty="0" err="1"/>
                        <a:t>руб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96327"/>
                  </a:ext>
                </a:extLst>
              </a:tr>
              <a:tr h="29097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1 134 408,76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23809"/>
                  </a:ext>
                </a:extLst>
              </a:tr>
              <a:tr h="29097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1 145 282,04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20813"/>
                  </a:ext>
                </a:extLst>
              </a:tr>
              <a:tr h="29097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сентября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1 126 898,34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502797"/>
                  </a:ext>
                </a:extLst>
              </a:tr>
              <a:tr h="290971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3 406 589,14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86357"/>
                  </a:ext>
                </a:extLst>
              </a:tr>
            </a:tbl>
          </a:graphicData>
        </a:graphic>
      </p:graphicFrame>
      <p:sp>
        <p:nvSpPr>
          <p:cNvPr id="7" name="Google Shape;165;g31e7d5ebb8d_0_9">
            <a:extLst>
              <a:ext uri="{FF2B5EF4-FFF2-40B4-BE49-F238E27FC236}">
                <a16:creationId xmlns:a16="http://schemas.microsoft.com/office/drawing/2014/main" id="{43C7BC94-DA11-C586-7131-6BBA5D2B9C42}"/>
              </a:ext>
            </a:extLst>
          </p:cNvPr>
          <p:cNvSpPr txBox="1"/>
          <p:nvPr/>
        </p:nvSpPr>
        <p:spPr>
          <a:xfrm>
            <a:off x="6048702" y="5955026"/>
            <a:ext cx="5181601" cy="41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1800" b="1" dirty="0">
                <a:solidFill>
                  <a:srgbClr val="434343"/>
                </a:solidFill>
              </a:rPr>
              <a:t>Возможная э</a:t>
            </a:r>
            <a:r>
              <a:rPr lang="ru-RU" sz="18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кономия – 487 299 рублей</a:t>
            </a:r>
            <a:endParaRPr sz="1800" b="1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972599" y="2741119"/>
            <a:ext cx="8222916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Aft>
                <a:spcPts val="2133"/>
              </a:spcAft>
            </a:pPr>
            <a:r>
              <a:rPr lang="ru" sz="64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ОПЕРАЦИОННАЯ ОТЧЕТНОСТЬ</a:t>
            </a:r>
            <a:endParaRPr sz="64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44958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b0eb28666_0_4"/>
          <p:cNvSpPr txBox="1"/>
          <p:nvPr/>
        </p:nvSpPr>
        <p:spPr>
          <a:xfrm>
            <a:off x="359113" y="239502"/>
            <a:ext cx="1147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dk1"/>
                </a:solidFill>
              </a:rPr>
              <a:t>ОПЕРАЦИОННАЯ ОТЧЕТНОСТЬ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DED8BA9-251F-8963-E12F-FBBF1CE6F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95" y="2617075"/>
            <a:ext cx="6369463" cy="393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589912C-2BD9-A85C-7E46-806805B50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667120"/>
              </p:ext>
            </p:extLst>
          </p:nvPr>
        </p:nvGraphicFramePr>
        <p:xfrm>
          <a:off x="1959391" y="1271757"/>
          <a:ext cx="2849880" cy="76200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98407934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268047706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adress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05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Ленинский пр-т, 162/1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9561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currency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05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Рубль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1918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min_payment</a:t>
                      </a:r>
                      <a:endParaRPr lang="en-US" sz="105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05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10 000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28997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/>
                      <a:r>
                        <a:rPr lang="en-US" sz="105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max_payment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05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40 000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700136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844E2F4-0EFA-5F03-1C38-D9FAD2095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10276"/>
              </p:ext>
            </p:extLst>
          </p:nvPr>
        </p:nvGraphicFramePr>
        <p:xfrm>
          <a:off x="7516604" y="1175586"/>
          <a:ext cx="3477216" cy="1615440"/>
        </p:xfrm>
        <a:graphic>
          <a:graphicData uri="http://schemas.openxmlformats.org/drawingml/2006/table">
            <a:tbl>
              <a:tblPr/>
              <a:tblGrid>
                <a:gridCol w="1532803">
                  <a:extLst>
                    <a:ext uri="{9D8B030D-6E8A-4147-A177-3AD203B41FA5}">
                      <a16:colId xmlns:a16="http://schemas.microsoft.com/office/drawing/2014/main" val="4078182945"/>
                    </a:ext>
                  </a:extLst>
                </a:gridCol>
                <a:gridCol w="1156137">
                  <a:extLst>
                    <a:ext uri="{9D8B030D-6E8A-4147-A177-3AD203B41FA5}">
                      <a16:colId xmlns:a16="http://schemas.microsoft.com/office/drawing/2014/main" val="554254867"/>
                    </a:ext>
                  </a:extLst>
                </a:gridCol>
                <a:gridCol w="788276">
                  <a:extLst>
                    <a:ext uri="{9D8B030D-6E8A-4147-A177-3AD203B41FA5}">
                      <a16:colId xmlns:a16="http://schemas.microsoft.com/office/drawing/2014/main" val="484197573"/>
                    </a:ext>
                  </a:extLst>
                </a:gridCol>
              </a:tblGrid>
              <a:tr h="218220"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pay_code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Все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039392"/>
                  </a:ext>
                </a:extLst>
              </a:tr>
              <a:tr h="218220"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name_system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Все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863291"/>
                  </a:ext>
                </a:extLst>
              </a:tr>
              <a:tr h="218220"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178451"/>
                  </a:ext>
                </a:extLst>
              </a:tr>
              <a:tr h="218220"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Свод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132353"/>
                  </a:ext>
                </a:extLst>
              </a:tr>
              <a:tr h="177303"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Сумма платежей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273 387 203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рублей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430263"/>
                  </a:ext>
                </a:extLst>
              </a:tr>
              <a:tr h="218220"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Количество платежей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12593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4457"/>
                  </a:ext>
                </a:extLst>
              </a:tr>
              <a:tr h="177303"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Средний платеж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1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21 709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рублей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72532"/>
                  </a:ext>
                </a:extLst>
              </a:tr>
            </a:tbl>
          </a:graphicData>
        </a:graphic>
      </p:graphicFrame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9C7088C-F9FE-BCCD-4ED9-5176C06CEA38}"/>
              </a:ext>
            </a:extLst>
          </p:cNvPr>
          <p:cNvCxnSpPr>
            <a:cxnSpLocks/>
          </p:cNvCxnSpPr>
          <p:nvPr/>
        </p:nvCxnSpPr>
        <p:spPr>
          <a:xfrm flipV="1">
            <a:off x="3878317" y="1923393"/>
            <a:ext cx="420414" cy="3573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EAC649FF-3FB3-4280-9F13-F8C2B88287AB}"/>
              </a:ext>
            </a:extLst>
          </p:cNvPr>
          <p:cNvCxnSpPr>
            <a:cxnSpLocks/>
          </p:cNvCxnSpPr>
          <p:nvPr/>
        </p:nvCxnSpPr>
        <p:spPr>
          <a:xfrm flipV="1">
            <a:off x="3888828" y="1707931"/>
            <a:ext cx="383627" cy="572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1A33830-E776-36DA-7AA1-C1E04E856FD4}"/>
              </a:ext>
            </a:extLst>
          </p:cNvPr>
          <p:cNvCxnSpPr>
            <a:cxnSpLocks/>
          </p:cNvCxnSpPr>
          <p:nvPr/>
        </p:nvCxnSpPr>
        <p:spPr>
          <a:xfrm flipH="1" flipV="1">
            <a:off x="4740166" y="1555531"/>
            <a:ext cx="625365" cy="7620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F3A3FF9-BFE5-AAAE-581B-773145EB0508}"/>
              </a:ext>
            </a:extLst>
          </p:cNvPr>
          <p:cNvCxnSpPr>
            <a:cxnSpLocks/>
          </p:cNvCxnSpPr>
          <p:nvPr/>
        </p:nvCxnSpPr>
        <p:spPr>
          <a:xfrm flipH="1">
            <a:off x="4734911" y="1093076"/>
            <a:ext cx="751489" cy="2469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011F5D-11E9-DA30-F7E2-290DBE550805}"/>
              </a:ext>
            </a:extLst>
          </p:cNvPr>
          <p:cNvCxnSpPr>
            <a:cxnSpLocks/>
          </p:cNvCxnSpPr>
          <p:nvPr/>
        </p:nvCxnSpPr>
        <p:spPr>
          <a:xfrm>
            <a:off x="9417270" y="861848"/>
            <a:ext cx="0" cy="4309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EB59703-D86C-9B85-D5C6-296AEA7A710F}"/>
              </a:ext>
            </a:extLst>
          </p:cNvPr>
          <p:cNvCxnSpPr>
            <a:cxnSpLocks/>
          </p:cNvCxnSpPr>
          <p:nvPr/>
        </p:nvCxnSpPr>
        <p:spPr>
          <a:xfrm flipH="1">
            <a:off x="9427780" y="903890"/>
            <a:ext cx="914399" cy="6306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3C0EEB-262C-B26E-51E6-FF7AED3C1312}"/>
              </a:ext>
            </a:extLst>
          </p:cNvPr>
          <p:cNvSpPr txBox="1"/>
          <p:nvPr/>
        </p:nvSpPr>
        <p:spPr>
          <a:xfrm>
            <a:off x="5475890" y="935421"/>
            <a:ext cx="146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ввод адреса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B54A16-409F-5C89-F1ED-A88349F54293}"/>
              </a:ext>
            </a:extLst>
          </p:cNvPr>
          <p:cNvSpPr txBox="1"/>
          <p:nvPr/>
        </p:nvSpPr>
        <p:spPr>
          <a:xfrm>
            <a:off x="5312980" y="2222938"/>
            <a:ext cx="146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ввод валюты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318459-53A8-950C-8083-931DCA7BB08C}"/>
              </a:ext>
            </a:extLst>
          </p:cNvPr>
          <p:cNvSpPr txBox="1"/>
          <p:nvPr/>
        </p:nvSpPr>
        <p:spPr>
          <a:xfrm>
            <a:off x="2312276" y="2249214"/>
            <a:ext cx="2532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выбор диапазона платежа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1A0B4A-1CF9-E8AE-ADB8-5AA1115D957B}"/>
              </a:ext>
            </a:extLst>
          </p:cNvPr>
          <p:cNvSpPr txBox="1"/>
          <p:nvPr/>
        </p:nvSpPr>
        <p:spPr>
          <a:xfrm>
            <a:off x="8744607" y="588579"/>
            <a:ext cx="146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код валюты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09E957-BEA4-E894-8845-F655DBFC4C83}"/>
              </a:ext>
            </a:extLst>
          </p:cNvPr>
          <p:cNvSpPr txBox="1"/>
          <p:nvPr/>
        </p:nvSpPr>
        <p:spPr>
          <a:xfrm>
            <a:off x="10126718" y="593834"/>
            <a:ext cx="146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платежная система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28ED17D-FEB5-7490-9D24-B41CB764C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691" y="2974428"/>
            <a:ext cx="5210742" cy="323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7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5400" b="1" dirty="0">
                <a:solidFill>
                  <a:srgbClr val="000000"/>
                </a:solidFill>
                <a:latin typeface="+mj-lt"/>
              </a:rPr>
              <a:t>Спасибо за внимание!</a:t>
            </a:r>
            <a:endParaRPr sz="4800" b="1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1462</Words>
  <Application>Microsoft Office PowerPoint</Application>
  <PresentationFormat>Широкоэкранный</PresentationFormat>
  <Paragraphs>236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Calibri</vt:lpstr>
      <vt:lpstr>Helvetica Neue</vt:lpstr>
      <vt:lpstr>Raleway</vt:lpstr>
      <vt:lpstr>Montserrat</vt:lpstr>
      <vt:lpstr>Helvetica Neue Light</vt:lpstr>
      <vt:lpstr>Тема Office</vt:lpstr>
      <vt:lpstr>Фрейм ритейл сети сентябрь 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Топтыгин Антон Александрович</dc:creator>
  <cp:lastModifiedBy>Антон Топтыгин</cp:lastModifiedBy>
  <cp:revision>7</cp:revision>
  <dcterms:created xsi:type="dcterms:W3CDTF">2024-06-03T11:24:19Z</dcterms:created>
  <dcterms:modified xsi:type="dcterms:W3CDTF">2025-08-19T12:55:18Z</dcterms:modified>
</cp:coreProperties>
</file>